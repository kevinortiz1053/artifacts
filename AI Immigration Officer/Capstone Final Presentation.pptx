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81" r:id="rId3"/>
    <p:sldId id="257" r:id="rId4"/>
    <p:sldId id="258" r:id="rId5"/>
    <p:sldId id="282" r:id="rId6"/>
    <p:sldId id="259" r:id="rId7"/>
    <p:sldId id="260" r:id="rId8"/>
    <p:sldId id="264" r:id="rId9"/>
    <p:sldId id="266" r:id="rId10"/>
    <p:sldId id="261" r:id="rId11"/>
    <p:sldId id="262" r:id="rId12"/>
    <p:sldId id="263" r:id="rId13"/>
    <p:sldId id="265" r:id="rId14"/>
    <p:sldId id="283" r:id="rId15"/>
    <p:sldId id="270" r:id="rId16"/>
    <p:sldId id="269" r:id="rId17"/>
    <p:sldId id="271" r:id="rId18"/>
    <p:sldId id="273" r:id="rId19"/>
    <p:sldId id="272" r:id="rId20"/>
    <p:sldId id="274" r:id="rId21"/>
    <p:sldId id="275" r:id="rId22"/>
    <p:sldId id="276" r:id="rId23"/>
    <p:sldId id="279" r:id="rId24"/>
    <p:sldId id="280" r:id="rId25"/>
    <p:sldId id="278" r:id="rId26"/>
    <p:sldId id="268"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815"/>
    <p:restoredTop sz="94675"/>
  </p:normalViewPr>
  <p:slideViewPr>
    <p:cSldViewPr snapToGrid="0">
      <p:cViewPr varScale="1">
        <p:scale>
          <a:sx n="127" d="100"/>
          <a:sy n="127" d="100"/>
        </p:scale>
        <p:origin x="73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8EEF8C-5185-D942-B386-9B069AC4B2F1}" type="datetimeFigureOut">
              <a:rPr lang="en-US" smtClean="0"/>
              <a:t>5/9/24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6475B0-8188-E643-A3D4-9686005E7055}" type="slidenum">
              <a:rPr lang="en-US" smtClean="0"/>
              <a:t>‹#›</a:t>
            </a:fld>
            <a:endParaRPr lang="en-US"/>
          </a:p>
        </p:txBody>
      </p:sp>
    </p:spTree>
    <p:extLst>
      <p:ext uri="{BB962C8B-B14F-4D97-AF65-F5344CB8AC3E}">
        <p14:creationId xmlns:p14="http://schemas.microsoft.com/office/powerpoint/2010/main" val="868852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 decided on those 22 characteristics</a:t>
            </a:r>
          </a:p>
          <a:p>
            <a:pPr marL="171450" indent="-171450">
              <a:buFont typeface="Arial" panose="020B0604020202020204" pitchFamily="34" charset="0"/>
              <a:buChar char="•"/>
            </a:pPr>
            <a:r>
              <a:rPr lang="en-US" dirty="0"/>
              <a:t>From the initial 109, I discarded all the ones that:</a:t>
            </a:r>
          </a:p>
          <a:p>
            <a:pPr marL="628650" lvl="1" indent="-171450">
              <a:buFont typeface="Arial" panose="020B0604020202020204" pitchFamily="34" charset="0"/>
              <a:buChar char="•"/>
            </a:pPr>
            <a:r>
              <a:rPr lang="en-US" dirty="0"/>
              <a:t>Didn’t relate to income, such as IDs specific to the census report</a:t>
            </a:r>
          </a:p>
          <a:p>
            <a:pPr marL="628650" lvl="1" indent="-171450">
              <a:buFont typeface="Arial" panose="020B0604020202020204" pitchFamily="34" charset="0"/>
              <a:buChar char="•"/>
            </a:pPr>
            <a:r>
              <a:rPr lang="en-US" dirty="0"/>
              <a:t>Weren’t actionable/defining characteristics of a person</a:t>
            </a:r>
          </a:p>
          <a:p>
            <a:pPr marL="628650" lvl="1" indent="-171450">
              <a:buFont typeface="Arial" panose="020B0604020202020204" pitchFamily="34" charset="0"/>
              <a:buChar char="•"/>
            </a:pPr>
            <a:r>
              <a:rPr lang="en-US" dirty="0"/>
              <a:t>Had too many </a:t>
            </a:r>
            <a:r>
              <a:rPr lang="en-US" dirty="0" err="1"/>
              <a:t>NaN</a:t>
            </a:r>
            <a:r>
              <a:rPr lang="en-US" dirty="0"/>
              <a:t> values</a:t>
            </a:r>
          </a:p>
          <a:p>
            <a:pPr marL="171450" lvl="0" indent="-171450">
              <a:buFont typeface="Arial" panose="020B0604020202020204" pitchFamily="34" charset="0"/>
              <a:buChar char="•"/>
            </a:pPr>
            <a:r>
              <a:rPr lang="en-US" dirty="0"/>
              <a:t>Then I trained my classifier model on different combinations of characteristics and saved the ones that gave me the highest accuracy scores</a:t>
            </a:r>
          </a:p>
        </p:txBody>
      </p:sp>
      <p:sp>
        <p:nvSpPr>
          <p:cNvPr id="4" name="Slide Number Placeholder 3"/>
          <p:cNvSpPr>
            <a:spLocks noGrp="1"/>
          </p:cNvSpPr>
          <p:nvPr>
            <p:ph type="sldNum" sz="quarter" idx="5"/>
          </p:nvPr>
        </p:nvSpPr>
        <p:spPr/>
        <p:txBody>
          <a:bodyPr/>
          <a:lstStyle/>
          <a:p>
            <a:fld id="{A86475B0-8188-E643-A3D4-9686005E7055}" type="slidenum">
              <a:rPr lang="en-US" smtClean="0"/>
              <a:t>6</a:t>
            </a:fld>
            <a:endParaRPr lang="en-US"/>
          </a:p>
        </p:txBody>
      </p:sp>
    </p:spTree>
    <p:extLst>
      <p:ext uri="{BB962C8B-B14F-4D97-AF65-F5344CB8AC3E}">
        <p14:creationId xmlns:p14="http://schemas.microsoft.com/office/powerpoint/2010/main" val="1998357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12529"/>
                </a:solidFill>
                <a:effectLst/>
                <a:highlight>
                  <a:srgbClr val="FFFFFF"/>
                </a:highlight>
                <a:latin typeface="-apple-system"/>
              </a:rPr>
              <a:t>Histogram-based Gradient Boosting Classification Tree</a:t>
            </a:r>
          </a:p>
          <a:p>
            <a:pPr marL="171450" indent="-171450">
              <a:buFont typeface="Arial" panose="020B0604020202020204" pitchFamily="34" charset="0"/>
              <a:buChar char="•"/>
            </a:pPr>
            <a:r>
              <a:rPr lang="en-US" b="0" i="0" dirty="0">
                <a:solidFill>
                  <a:srgbClr val="212529"/>
                </a:solidFill>
                <a:effectLst/>
                <a:highlight>
                  <a:srgbClr val="FFFFFF"/>
                </a:highlight>
                <a:latin typeface="-apple-system"/>
              </a:rPr>
              <a:t>This estimator has native support for missing values (</a:t>
            </a:r>
            <a:r>
              <a:rPr lang="en-US" b="0" i="0" dirty="0" err="1">
                <a:solidFill>
                  <a:srgbClr val="212529"/>
                </a:solidFill>
                <a:effectLst/>
                <a:highlight>
                  <a:srgbClr val="FFFFFF"/>
                </a:highlight>
                <a:latin typeface="-apple-system"/>
              </a:rPr>
              <a:t>NaNs</a:t>
            </a:r>
            <a:r>
              <a:rPr lang="en-US" b="0" i="0" dirty="0">
                <a:solidFill>
                  <a:srgbClr val="212529"/>
                </a:solidFill>
                <a:effectLst/>
                <a:highlight>
                  <a:srgbClr val="FFFFFF"/>
                </a:highlight>
                <a:latin typeface="-apple-system"/>
              </a:rPr>
              <a:t>)</a:t>
            </a:r>
          </a:p>
          <a:p>
            <a:pPr marL="171450" indent="-171450">
              <a:buFont typeface="Arial" panose="020B0604020202020204" pitchFamily="34" charset="0"/>
              <a:buChar char="•"/>
            </a:pPr>
            <a:r>
              <a:rPr lang="en-US" b="0" i="0" dirty="0">
                <a:solidFill>
                  <a:srgbClr val="212529"/>
                </a:solidFill>
                <a:effectLst/>
                <a:highlight>
                  <a:srgbClr val="FFFFFF"/>
                </a:highlight>
                <a:latin typeface="-apple-system"/>
              </a:rPr>
              <a:t>Adept at handling large data sets</a:t>
            </a:r>
          </a:p>
          <a:p>
            <a:pPr marL="171450" indent="-171450">
              <a:buFont typeface="Arial" panose="020B0604020202020204" pitchFamily="34" charset="0"/>
              <a:buChar char="•"/>
            </a:pPr>
            <a:r>
              <a:rPr lang="en-US" b="0" i="0" dirty="0">
                <a:solidFill>
                  <a:srgbClr val="212529"/>
                </a:solidFill>
                <a:effectLst/>
                <a:highlight>
                  <a:srgbClr val="FFFFFF"/>
                </a:highlight>
                <a:latin typeface="-apple-system"/>
              </a:rPr>
              <a:t>Training Accuracy: 79.3%</a:t>
            </a:r>
          </a:p>
          <a:p>
            <a:pPr marL="171450" indent="-171450">
              <a:buFont typeface="Arial" panose="020B0604020202020204" pitchFamily="34" charset="0"/>
              <a:buChar char="•"/>
            </a:pPr>
            <a:r>
              <a:rPr lang="en-US" b="0" i="0" dirty="0">
                <a:solidFill>
                  <a:srgbClr val="212529"/>
                </a:solidFill>
                <a:effectLst/>
                <a:highlight>
                  <a:srgbClr val="FFFFFF"/>
                </a:highlight>
                <a:latin typeface="-apple-system"/>
              </a:rPr>
              <a:t>Test Accuracy: 79.3%</a:t>
            </a:r>
          </a:p>
          <a:p>
            <a:pPr marL="171450" indent="-171450">
              <a:buFont typeface="Arial" panose="020B0604020202020204" pitchFamily="34" charset="0"/>
              <a:buChar char="•"/>
            </a:pPr>
            <a:endParaRPr lang="en-US" b="0" i="0" dirty="0">
              <a:solidFill>
                <a:srgbClr val="212529"/>
              </a:solidFill>
              <a:effectLst/>
              <a:highlight>
                <a:srgbClr val="FFFFFF"/>
              </a:highlight>
              <a:latin typeface="-apple-system"/>
            </a:endParaRPr>
          </a:p>
          <a:p>
            <a:pPr marL="0" indent="0">
              <a:buFont typeface="Arial" panose="020B0604020202020204" pitchFamily="34" charset="0"/>
              <a:buNone/>
            </a:pPr>
            <a:r>
              <a:rPr lang="en-US" b="0" i="0" dirty="0">
                <a:solidFill>
                  <a:srgbClr val="212529"/>
                </a:solidFill>
                <a:effectLst/>
                <a:highlight>
                  <a:srgbClr val="FFFFFF"/>
                </a:highlight>
                <a:latin typeface="-apple-system"/>
              </a:rPr>
              <a:t>Multi-layer Perceptron </a:t>
            </a:r>
          </a:p>
          <a:p>
            <a:pPr marL="171450" indent="-171450">
              <a:buFont typeface="Arial" panose="020B0604020202020204" pitchFamily="34" charset="0"/>
              <a:buChar char="•"/>
            </a:pPr>
            <a:r>
              <a:rPr lang="en-US" b="0" i="0" dirty="0">
                <a:solidFill>
                  <a:srgbClr val="212529"/>
                </a:solidFill>
                <a:effectLst/>
                <a:highlight>
                  <a:srgbClr val="FFFFFF"/>
                </a:highlight>
                <a:latin typeface="-apple-system"/>
              </a:rPr>
              <a:t>Training Accuracy: 70.4%</a:t>
            </a:r>
          </a:p>
          <a:p>
            <a:pPr marL="171450" indent="-171450">
              <a:buFont typeface="Arial" panose="020B0604020202020204" pitchFamily="34" charset="0"/>
              <a:buChar char="•"/>
            </a:pPr>
            <a:r>
              <a:rPr lang="en-US" b="0" i="0" dirty="0">
                <a:solidFill>
                  <a:srgbClr val="212529"/>
                </a:solidFill>
                <a:effectLst/>
                <a:highlight>
                  <a:srgbClr val="FFFFFF"/>
                </a:highlight>
                <a:latin typeface="-apple-system"/>
              </a:rPr>
              <a:t>Test Accuracy: 70.4%</a:t>
            </a:r>
          </a:p>
          <a:p>
            <a:pPr marL="171450" indent="-171450">
              <a:buFont typeface="Arial" panose="020B0604020202020204" pitchFamily="34" charset="0"/>
              <a:buChar char="•"/>
            </a:pPr>
            <a:endParaRPr lang="en-US" b="0" i="0" dirty="0">
              <a:solidFill>
                <a:srgbClr val="212529"/>
              </a:solidFill>
              <a:effectLst/>
              <a:highlight>
                <a:srgbClr val="FFFFFF"/>
              </a:highlight>
              <a:latin typeface="-apple-system"/>
            </a:endParaRPr>
          </a:p>
          <a:p>
            <a:pPr marL="0" indent="0">
              <a:buFont typeface="Arial" panose="020B0604020202020204" pitchFamily="34" charset="0"/>
              <a:buNone/>
            </a:pPr>
            <a:r>
              <a:rPr lang="en-US" b="0" i="0" dirty="0">
                <a:solidFill>
                  <a:srgbClr val="212529"/>
                </a:solidFill>
                <a:effectLst/>
                <a:highlight>
                  <a:srgbClr val="FFFFFF"/>
                </a:highlight>
                <a:latin typeface="-apple-system"/>
              </a:rPr>
              <a:t>Random Forest Classifier</a:t>
            </a:r>
          </a:p>
          <a:p>
            <a:pPr marL="171450" indent="-171450">
              <a:buFont typeface="Arial" panose="020B0604020202020204" pitchFamily="34" charset="0"/>
              <a:buChar char="•"/>
            </a:pPr>
            <a:r>
              <a:rPr lang="en-US" b="0" i="0" dirty="0">
                <a:solidFill>
                  <a:srgbClr val="212529"/>
                </a:solidFill>
                <a:effectLst/>
                <a:highlight>
                  <a:srgbClr val="FFFFFF"/>
                </a:highlight>
                <a:latin typeface="-apple-system"/>
              </a:rPr>
              <a:t>Training Accuracy: 99.4%</a:t>
            </a:r>
          </a:p>
          <a:p>
            <a:pPr marL="171450" indent="-171450">
              <a:buFont typeface="Arial" panose="020B0604020202020204" pitchFamily="34" charset="0"/>
              <a:buChar char="•"/>
            </a:pPr>
            <a:r>
              <a:rPr lang="en-US" b="0" i="0" dirty="0">
                <a:solidFill>
                  <a:srgbClr val="212529"/>
                </a:solidFill>
                <a:effectLst/>
                <a:highlight>
                  <a:srgbClr val="FFFFFF"/>
                </a:highlight>
                <a:latin typeface="-apple-system"/>
              </a:rPr>
              <a:t>Test Accuracy: 78.5%</a:t>
            </a:r>
          </a:p>
        </p:txBody>
      </p:sp>
      <p:sp>
        <p:nvSpPr>
          <p:cNvPr id="4" name="Slide Number Placeholder 3"/>
          <p:cNvSpPr>
            <a:spLocks noGrp="1"/>
          </p:cNvSpPr>
          <p:nvPr>
            <p:ph type="sldNum" sz="quarter" idx="5"/>
          </p:nvPr>
        </p:nvSpPr>
        <p:spPr/>
        <p:txBody>
          <a:bodyPr/>
          <a:lstStyle/>
          <a:p>
            <a:fld id="{A86475B0-8188-E643-A3D4-9686005E7055}" type="slidenum">
              <a:rPr lang="en-US" smtClean="0"/>
              <a:t>7</a:t>
            </a:fld>
            <a:endParaRPr lang="en-US"/>
          </a:p>
        </p:txBody>
      </p:sp>
    </p:spTree>
    <p:extLst>
      <p:ext uri="{BB962C8B-B14F-4D97-AF65-F5344CB8AC3E}">
        <p14:creationId xmlns:p14="http://schemas.microsoft.com/office/powerpoint/2010/main" val="4135456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6475B0-8188-E643-A3D4-9686005E7055}" type="slidenum">
              <a:rPr lang="en-US" smtClean="0"/>
              <a:t>10</a:t>
            </a:fld>
            <a:endParaRPr lang="en-US"/>
          </a:p>
        </p:txBody>
      </p:sp>
    </p:spTree>
    <p:extLst>
      <p:ext uri="{BB962C8B-B14F-4D97-AF65-F5344CB8AC3E}">
        <p14:creationId xmlns:p14="http://schemas.microsoft.com/office/powerpoint/2010/main" val="2754746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ENGINEERING</a:t>
            </a:r>
          </a:p>
          <a:p>
            <a:pPr marL="171450" indent="-171450">
              <a:buFont typeface="Arial" panose="020B0604020202020204" pitchFamily="34" charset="0"/>
              <a:buChar char="•"/>
            </a:pPr>
            <a:r>
              <a:rPr lang="en-US" dirty="0" err="1"/>
              <a:t>uhrswork_trans</a:t>
            </a:r>
            <a:r>
              <a:rPr lang="en-US" dirty="0"/>
              <a:t> = </a:t>
            </a:r>
            <a:r>
              <a:rPr lang="en-US" dirty="0" err="1"/>
              <a:t>pd.cut</a:t>
            </a:r>
            <a:r>
              <a:rPr lang="en-US" dirty="0"/>
              <a:t>(X["UHRSWORK"], bins=[-9999999, 10, 20, 30, 40, 50, 60, 70, 80, 90, 1000], labels=[10, 20, 30, 40, 50, 60, 70, 80, 90, 100])</a:t>
            </a:r>
          </a:p>
          <a:p>
            <a:pPr marL="171450" indent="-171450">
              <a:buFont typeface="Arial" panose="020B0604020202020204" pitchFamily="34" charset="0"/>
              <a:buChar char="•"/>
            </a:pPr>
            <a:r>
              <a:rPr lang="en-US" dirty="0" err="1"/>
              <a:t>occ_trans</a:t>
            </a:r>
            <a:r>
              <a:rPr lang="en-US" dirty="0"/>
              <a:t> = </a:t>
            </a:r>
            <a:r>
              <a:rPr lang="en-US" dirty="0" err="1"/>
              <a:t>pd.cut</a:t>
            </a:r>
            <a:r>
              <a:rPr lang="en-US" dirty="0"/>
              <a:t>(X["OCC"], bins=[-999999, 1, 961, 1981, 2971, 3551, 4656, 5941, 7641, 9761, 9831, 9921], labels=[0, 960, 1980, 2970, 3550, 4655, 5940, 7640, 9760, 9830, 9920])</a:t>
            </a:r>
          </a:p>
        </p:txBody>
      </p:sp>
      <p:sp>
        <p:nvSpPr>
          <p:cNvPr id="4" name="Slide Number Placeholder 3"/>
          <p:cNvSpPr>
            <a:spLocks noGrp="1"/>
          </p:cNvSpPr>
          <p:nvPr>
            <p:ph type="sldNum" sz="quarter" idx="5"/>
          </p:nvPr>
        </p:nvSpPr>
        <p:spPr/>
        <p:txBody>
          <a:bodyPr/>
          <a:lstStyle/>
          <a:p>
            <a:fld id="{A86475B0-8188-E643-A3D4-9686005E7055}" type="slidenum">
              <a:rPr lang="en-US" smtClean="0"/>
              <a:t>11</a:t>
            </a:fld>
            <a:endParaRPr lang="en-US"/>
          </a:p>
        </p:txBody>
      </p:sp>
    </p:spTree>
    <p:extLst>
      <p:ext uri="{BB962C8B-B14F-4D97-AF65-F5344CB8AC3E}">
        <p14:creationId xmlns:p14="http://schemas.microsoft.com/office/powerpoint/2010/main" val="22272837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Points</a:t>
            </a:r>
          </a:p>
          <a:p>
            <a:pPr marL="171450" indent="-171450">
              <a:buFont typeface="Arial" panose="020B0604020202020204" pitchFamily="34" charset="0"/>
              <a:buChar char="•"/>
            </a:pPr>
            <a:r>
              <a:rPr lang="en-US" dirty="0"/>
              <a:t>Tier 1: 50</a:t>
            </a:r>
          </a:p>
          <a:p>
            <a:pPr marL="171450" indent="-171450">
              <a:buFont typeface="Arial" panose="020B0604020202020204" pitchFamily="34" charset="0"/>
              <a:buChar char="•"/>
            </a:pPr>
            <a:r>
              <a:rPr lang="en-US" dirty="0"/>
              <a:t>Tier 2: 100</a:t>
            </a:r>
          </a:p>
          <a:p>
            <a:pPr marL="171450" indent="-171450">
              <a:buFont typeface="Arial" panose="020B0604020202020204" pitchFamily="34" charset="0"/>
              <a:buChar char="•"/>
            </a:pPr>
            <a:r>
              <a:rPr lang="en-US" dirty="0"/>
              <a:t>Tier 3: 150</a:t>
            </a:r>
          </a:p>
          <a:p>
            <a:pPr marL="171450" indent="-171450">
              <a:buFont typeface="Arial" panose="020B0604020202020204" pitchFamily="34" charset="0"/>
              <a:buChar char="•"/>
            </a:pPr>
            <a:r>
              <a:rPr lang="en-US" dirty="0"/>
              <a:t>Tier 4: 200</a:t>
            </a:r>
          </a:p>
          <a:p>
            <a:pPr marL="171450" indent="-171450">
              <a:buFont typeface="Arial" panose="020B0604020202020204" pitchFamily="34" charset="0"/>
              <a:buChar char="•"/>
            </a:pPr>
            <a:r>
              <a:rPr lang="en-US" dirty="0"/>
              <a:t>Bonus for moving up a tier: 500</a:t>
            </a:r>
          </a:p>
        </p:txBody>
      </p:sp>
      <p:sp>
        <p:nvSpPr>
          <p:cNvPr id="4" name="Slide Number Placeholder 3"/>
          <p:cNvSpPr>
            <a:spLocks noGrp="1"/>
          </p:cNvSpPr>
          <p:nvPr>
            <p:ph type="sldNum" sz="quarter" idx="5"/>
          </p:nvPr>
        </p:nvSpPr>
        <p:spPr/>
        <p:txBody>
          <a:bodyPr/>
          <a:lstStyle/>
          <a:p>
            <a:fld id="{A86475B0-8188-E643-A3D4-9686005E7055}" type="slidenum">
              <a:rPr lang="en-US" smtClean="0"/>
              <a:t>12</a:t>
            </a:fld>
            <a:endParaRPr lang="en-US"/>
          </a:p>
        </p:txBody>
      </p:sp>
    </p:spTree>
    <p:extLst>
      <p:ext uri="{BB962C8B-B14F-4D97-AF65-F5344CB8AC3E}">
        <p14:creationId xmlns:p14="http://schemas.microsoft.com/office/powerpoint/2010/main" val="40306635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Probabilities being the same: 0 reward allowed it to go in loops and didn’t make it clear that this state was visited. The initial value of all states was 0.</a:t>
            </a:r>
          </a:p>
          <a:p>
            <a:endParaRPr lang="en-US" dirty="0"/>
          </a:p>
        </p:txBody>
      </p:sp>
      <p:sp>
        <p:nvSpPr>
          <p:cNvPr id="4" name="Slide Number Placeholder 3"/>
          <p:cNvSpPr>
            <a:spLocks noGrp="1"/>
          </p:cNvSpPr>
          <p:nvPr>
            <p:ph type="sldNum" sz="quarter" idx="5"/>
          </p:nvPr>
        </p:nvSpPr>
        <p:spPr/>
        <p:txBody>
          <a:bodyPr/>
          <a:lstStyle/>
          <a:p>
            <a:fld id="{A86475B0-8188-E643-A3D4-9686005E7055}" type="slidenum">
              <a:rPr lang="en-US" smtClean="0"/>
              <a:t>13</a:t>
            </a:fld>
            <a:endParaRPr lang="en-US"/>
          </a:p>
        </p:txBody>
      </p:sp>
    </p:spTree>
    <p:extLst>
      <p:ext uri="{BB962C8B-B14F-4D97-AF65-F5344CB8AC3E}">
        <p14:creationId xmlns:p14="http://schemas.microsoft.com/office/powerpoint/2010/main" val="29799886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4 had a higher slope which indicates that the agent was better able to find actions that gave it more positive rewards in Tier 4 as compared to Tier 1. This could be an indicator of how it is more difficult to increase your income if you start low. It takes money to make money.</a:t>
            </a:r>
          </a:p>
          <a:p>
            <a:endParaRPr lang="en-US" dirty="0"/>
          </a:p>
          <a:p>
            <a:r>
              <a:rPr lang="en-US" dirty="0"/>
              <a:t>It makes sense that my average reward is higher when starting in Tier 4 because the rewards in that tier are inherently higher but was is interesting is that for Tier 1, our average rewards are not only smaller but negative. This could indicate that not only is it harder to increase your income starting in Tier 1, but there are also a lot of actions that would produce negative rewards and not just even keel ones. It could also indicate that it’s more frequent to raise a tier and than fall back down to a lower one, as compared to tier movement happening in Tier 4.</a:t>
            </a:r>
          </a:p>
        </p:txBody>
      </p:sp>
      <p:sp>
        <p:nvSpPr>
          <p:cNvPr id="4" name="Slide Number Placeholder 3"/>
          <p:cNvSpPr>
            <a:spLocks noGrp="1"/>
          </p:cNvSpPr>
          <p:nvPr>
            <p:ph type="sldNum" sz="quarter" idx="5"/>
          </p:nvPr>
        </p:nvSpPr>
        <p:spPr/>
        <p:txBody>
          <a:bodyPr/>
          <a:lstStyle/>
          <a:p>
            <a:fld id="{A86475B0-8188-E643-A3D4-9686005E7055}" type="slidenum">
              <a:rPr lang="en-US" smtClean="0"/>
              <a:t>15</a:t>
            </a:fld>
            <a:endParaRPr lang="en-US"/>
          </a:p>
        </p:txBody>
      </p:sp>
    </p:spTree>
    <p:extLst>
      <p:ext uri="{BB962C8B-B14F-4D97-AF65-F5344CB8AC3E}">
        <p14:creationId xmlns:p14="http://schemas.microsoft.com/office/powerpoint/2010/main" val="25724569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every 10 accumulated rewards.</a:t>
            </a:r>
          </a:p>
          <a:p>
            <a:endParaRPr lang="en-US" dirty="0"/>
          </a:p>
          <a:p>
            <a:r>
              <a:rPr lang="en-US" dirty="0"/>
              <a:t>Tier 4 had a higher slope which indicates that the agent was better able to find actions that gave it more positive rewards in Tier 4 as compared to Tier 1. This could be an indicator of how it is more difficult to increase your income if you start low. It takes money to make money.</a:t>
            </a:r>
          </a:p>
          <a:p>
            <a:endParaRPr lang="en-US" dirty="0"/>
          </a:p>
          <a:p>
            <a:r>
              <a:rPr lang="en-US" dirty="0"/>
              <a:t>It makes sense that my average reward is higher when starting in Tier 4 because the rewards in that tier are inherently higher but was is interesting is that for Tier 1, our average rewards are not only smaller but negative. This could indicate that not only is it harder to increase your income starting in Tier 1, but there are also a lot of actions that would produce negative rewards and not just even keel ones. It could also indicate that it’s more frequent to raise a tier and than fall back down to a lower one, as compared to tier movement happening in Tier 4.</a:t>
            </a:r>
          </a:p>
          <a:p>
            <a:endParaRPr lang="en-US" dirty="0"/>
          </a:p>
        </p:txBody>
      </p:sp>
      <p:sp>
        <p:nvSpPr>
          <p:cNvPr id="4" name="Slide Number Placeholder 3"/>
          <p:cNvSpPr>
            <a:spLocks noGrp="1"/>
          </p:cNvSpPr>
          <p:nvPr>
            <p:ph type="sldNum" sz="quarter" idx="5"/>
          </p:nvPr>
        </p:nvSpPr>
        <p:spPr/>
        <p:txBody>
          <a:bodyPr/>
          <a:lstStyle/>
          <a:p>
            <a:fld id="{A86475B0-8188-E643-A3D4-9686005E7055}" type="slidenum">
              <a:rPr lang="en-US" smtClean="0"/>
              <a:t>16</a:t>
            </a:fld>
            <a:endParaRPr lang="en-US"/>
          </a:p>
        </p:txBody>
      </p:sp>
    </p:spTree>
    <p:extLst>
      <p:ext uri="{BB962C8B-B14F-4D97-AF65-F5344CB8AC3E}">
        <p14:creationId xmlns:p14="http://schemas.microsoft.com/office/powerpoint/2010/main" val="3763898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Mixed was using 20 different starting states. 5 from each Tier.</a:t>
            </a:r>
          </a:p>
          <a:p>
            <a:r>
              <a:rPr lang="en-US" dirty="0"/>
              <a:t>Mixed slope is almost halfway between the slops of Tier 1 and Tier 4</a:t>
            </a:r>
          </a:p>
        </p:txBody>
      </p:sp>
      <p:sp>
        <p:nvSpPr>
          <p:cNvPr id="4" name="Slide Number Placeholder 3"/>
          <p:cNvSpPr>
            <a:spLocks noGrp="1"/>
          </p:cNvSpPr>
          <p:nvPr>
            <p:ph type="sldNum" sz="quarter" idx="5"/>
          </p:nvPr>
        </p:nvSpPr>
        <p:spPr/>
        <p:txBody>
          <a:bodyPr/>
          <a:lstStyle/>
          <a:p>
            <a:fld id="{A86475B0-8188-E643-A3D4-9686005E7055}" type="slidenum">
              <a:rPr lang="en-US" smtClean="0"/>
              <a:t>17</a:t>
            </a:fld>
            <a:endParaRPr lang="en-US"/>
          </a:p>
        </p:txBody>
      </p:sp>
    </p:spTree>
    <p:extLst>
      <p:ext uri="{BB962C8B-B14F-4D97-AF65-F5344CB8AC3E}">
        <p14:creationId xmlns:p14="http://schemas.microsoft.com/office/powerpoint/2010/main" val="3623159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ELAM - Education, legal, arts and media</a:t>
            </a:r>
          </a:p>
          <a:p>
            <a:endParaRPr lang="en-US" dirty="0"/>
          </a:p>
          <a:p>
            <a:r>
              <a:rPr lang="en-US" dirty="0"/>
              <a:t>RED</a:t>
            </a:r>
          </a:p>
          <a:p>
            <a:pPr marL="171450" indent="-171450">
              <a:buFont typeface="Arial" panose="020B0604020202020204" pitchFamily="34" charset="0"/>
              <a:buChar char="•"/>
            </a:pPr>
            <a:r>
              <a:rPr lang="en-US" dirty="0"/>
              <a:t>CITIZEN. Agent learned to recommend to be born a citizen, would have to account for that.</a:t>
            </a:r>
          </a:p>
          <a:p>
            <a:pPr marL="171450" indent="-171450">
              <a:buFont typeface="Arial" panose="020B0604020202020204" pitchFamily="34" charset="0"/>
              <a:buChar char="•"/>
            </a:pPr>
            <a:r>
              <a:rPr lang="en-US" dirty="0"/>
              <a:t>TRANWORK. Agent learned to not change this at all, not sure if it deemed it not important or what.</a:t>
            </a:r>
          </a:p>
          <a:p>
            <a:pPr marL="171450" indent="-171450">
              <a:buFont typeface="Arial" panose="020B0604020202020204" pitchFamily="34" charset="0"/>
              <a:buChar char="•"/>
            </a:pPr>
            <a:r>
              <a:rPr lang="en-US" dirty="0"/>
              <a:t>EMPSTAT. Agent learned that the best option is to not be in the labor force. Seems wrong…maybe that means they’re getting benefits?</a:t>
            </a:r>
          </a:p>
        </p:txBody>
      </p:sp>
      <p:sp>
        <p:nvSpPr>
          <p:cNvPr id="4" name="Slide Number Placeholder 3"/>
          <p:cNvSpPr>
            <a:spLocks noGrp="1"/>
          </p:cNvSpPr>
          <p:nvPr>
            <p:ph type="sldNum" sz="quarter" idx="5"/>
          </p:nvPr>
        </p:nvSpPr>
        <p:spPr/>
        <p:txBody>
          <a:bodyPr/>
          <a:lstStyle/>
          <a:p>
            <a:fld id="{A86475B0-8188-E643-A3D4-9686005E7055}" type="slidenum">
              <a:rPr lang="en-US" smtClean="0"/>
              <a:t>19</a:t>
            </a:fld>
            <a:endParaRPr lang="en-US"/>
          </a:p>
        </p:txBody>
      </p:sp>
    </p:spTree>
    <p:extLst>
      <p:ext uri="{BB962C8B-B14F-4D97-AF65-F5344CB8AC3E}">
        <p14:creationId xmlns:p14="http://schemas.microsoft.com/office/powerpoint/2010/main" val="25240426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ELAM - Education, legal, arts and media</a:t>
            </a:r>
          </a:p>
          <a:p>
            <a:endParaRPr lang="en-US" dirty="0"/>
          </a:p>
          <a:p>
            <a:r>
              <a:rPr lang="en-US" dirty="0"/>
              <a:t>RED</a:t>
            </a:r>
          </a:p>
          <a:p>
            <a:pPr marL="171450" indent="-171450">
              <a:buFont typeface="Arial" panose="020B0604020202020204" pitchFamily="34" charset="0"/>
              <a:buChar char="•"/>
            </a:pPr>
            <a:r>
              <a:rPr lang="en-US" dirty="0"/>
              <a:t>CITIZEN. Agent learned to recommend to be born a citizen, would have to account for that.</a:t>
            </a:r>
          </a:p>
          <a:p>
            <a:pPr marL="171450" indent="-171450">
              <a:buFont typeface="Arial" panose="020B0604020202020204" pitchFamily="34" charset="0"/>
              <a:buChar char="•"/>
            </a:pPr>
            <a:r>
              <a:rPr lang="en-US" dirty="0"/>
              <a:t>TRANWORK. Agent learned to not change this at all, not sure if it deemed it not important or what.</a:t>
            </a:r>
          </a:p>
          <a:p>
            <a:pPr marL="171450" indent="-171450">
              <a:buFont typeface="Arial" panose="020B0604020202020204" pitchFamily="34" charset="0"/>
              <a:buChar char="•"/>
            </a:pPr>
            <a:r>
              <a:rPr lang="en-US" dirty="0"/>
              <a:t>EMPSTAT. Agent learned that the best option is to not be in the labor force. Seems wrong…maybe that means they’re getting benefits?</a:t>
            </a:r>
          </a:p>
        </p:txBody>
      </p:sp>
      <p:sp>
        <p:nvSpPr>
          <p:cNvPr id="4" name="Slide Number Placeholder 3"/>
          <p:cNvSpPr>
            <a:spLocks noGrp="1"/>
          </p:cNvSpPr>
          <p:nvPr>
            <p:ph type="sldNum" sz="quarter" idx="5"/>
          </p:nvPr>
        </p:nvSpPr>
        <p:spPr/>
        <p:txBody>
          <a:bodyPr/>
          <a:lstStyle/>
          <a:p>
            <a:fld id="{A86475B0-8188-E643-A3D4-9686005E7055}" type="slidenum">
              <a:rPr lang="en-US" smtClean="0"/>
              <a:t>21</a:t>
            </a:fld>
            <a:endParaRPr lang="en-US"/>
          </a:p>
        </p:txBody>
      </p:sp>
    </p:spTree>
    <p:extLst>
      <p:ext uri="{BB962C8B-B14F-4D97-AF65-F5344CB8AC3E}">
        <p14:creationId xmlns:p14="http://schemas.microsoft.com/office/powerpoint/2010/main" val="26662572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Start state probability:  [0.98 0.02 0.   0.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[0.95 0.05 0.   0.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[0.96 0.04 0.   0.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[0.9  0.06 0.02 0.02]</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End state probability: [0.315 0.285 0.24  0.16 ]</a:t>
            </a:r>
          </a:p>
          <a:p>
            <a:endParaRPr lang="en-US" dirty="0"/>
          </a:p>
        </p:txBody>
      </p:sp>
      <p:sp>
        <p:nvSpPr>
          <p:cNvPr id="4" name="Slide Number Placeholder 3"/>
          <p:cNvSpPr>
            <a:spLocks noGrp="1"/>
          </p:cNvSpPr>
          <p:nvPr>
            <p:ph type="sldNum" sz="quarter" idx="5"/>
          </p:nvPr>
        </p:nvSpPr>
        <p:spPr/>
        <p:txBody>
          <a:bodyPr/>
          <a:lstStyle/>
          <a:p>
            <a:fld id="{A86475B0-8188-E643-A3D4-9686005E7055}" type="slidenum">
              <a:rPr lang="en-US" smtClean="0"/>
              <a:t>22</a:t>
            </a:fld>
            <a:endParaRPr lang="en-US"/>
          </a:p>
        </p:txBody>
      </p:sp>
    </p:spTree>
    <p:extLst>
      <p:ext uri="{BB962C8B-B14F-4D97-AF65-F5344CB8AC3E}">
        <p14:creationId xmlns:p14="http://schemas.microsoft.com/office/powerpoint/2010/main" val="16419345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Start state probability: [0.01 0.01 0.09 0.89]</a:t>
            </a:r>
          </a:p>
          <a:p>
            <a:pPr marL="171450" indent="-171450">
              <a:buFont typeface="Arial" panose="020B0604020202020204" pitchFamily="34" charset="0"/>
              <a:buChar char="•"/>
            </a:pPr>
            <a:r>
              <a:rPr lang="en-US" dirty="0"/>
              <a:t>[0.01 0.15 0.34 0.5 ]</a:t>
            </a:r>
          </a:p>
          <a:p>
            <a:pPr marL="171450" indent="-171450">
              <a:buFont typeface="Arial" panose="020B0604020202020204" pitchFamily="34" charset="0"/>
              <a:buChar char="•"/>
            </a:pPr>
            <a:r>
              <a:rPr lang="en-US" dirty="0"/>
              <a:t>[0.   0.07 0.21 0.72]</a:t>
            </a:r>
          </a:p>
          <a:p>
            <a:pPr marL="171450" indent="-171450">
              <a:buFont typeface="Arial" panose="020B0604020202020204" pitchFamily="34" charset="0"/>
              <a:buChar char="•"/>
            </a:pPr>
            <a:r>
              <a:rPr lang="en-US" dirty="0"/>
              <a:t>End state probability: [0.   0.03 0.25 0.72]</a:t>
            </a:r>
          </a:p>
        </p:txBody>
      </p:sp>
      <p:sp>
        <p:nvSpPr>
          <p:cNvPr id="4" name="Slide Number Placeholder 3"/>
          <p:cNvSpPr>
            <a:spLocks noGrp="1"/>
          </p:cNvSpPr>
          <p:nvPr>
            <p:ph type="sldNum" sz="quarter" idx="5"/>
          </p:nvPr>
        </p:nvSpPr>
        <p:spPr/>
        <p:txBody>
          <a:bodyPr/>
          <a:lstStyle/>
          <a:p>
            <a:fld id="{A86475B0-8188-E643-A3D4-9686005E7055}" type="slidenum">
              <a:rPr lang="en-US" smtClean="0"/>
              <a:t>23</a:t>
            </a:fld>
            <a:endParaRPr lang="en-US"/>
          </a:p>
        </p:txBody>
      </p:sp>
    </p:spTree>
    <p:extLst>
      <p:ext uri="{BB962C8B-B14F-4D97-AF65-F5344CB8AC3E}">
        <p14:creationId xmlns:p14="http://schemas.microsoft.com/office/powerpoint/2010/main" val="40872778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Start state probability: [0.12 0.86 0.02 0.  ]</a:t>
            </a:r>
          </a:p>
          <a:p>
            <a:pPr marL="171450" indent="-171450">
              <a:buFont typeface="Arial" panose="020B0604020202020204" pitchFamily="34" charset="0"/>
              <a:buChar char="•"/>
            </a:pPr>
            <a:r>
              <a:rPr lang="en-US" dirty="0"/>
              <a:t>[0.17  0.665 0.125 0.04 ]</a:t>
            </a:r>
          </a:p>
          <a:p>
            <a:pPr marL="171450" indent="-171450">
              <a:buFont typeface="Arial" panose="020B0604020202020204" pitchFamily="34" charset="0"/>
              <a:buChar char="•"/>
            </a:pPr>
            <a:r>
              <a:rPr lang="en-US" dirty="0"/>
              <a:t>[0.23 0.31 0.29 0.17]</a:t>
            </a:r>
          </a:p>
          <a:p>
            <a:pPr marL="171450" indent="-171450">
              <a:buFont typeface="Arial" panose="020B0604020202020204" pitchFamily="34" charset="0"/>
              <a:buChar char="•"/>
            </a:pPr>
            <a:r>
              <a:rPr lang="en-US" dirty="0"/>
              <a:t>End state probability: [0.02 0.11 0.22 0.65]</a:t>
            </a:r>
          </a:p>
        </p:txBody>
      </p:sp>
      <p:sp>
        <p:nvSpPr>
          <p:cNvPr id="4" name="Slide Number Placeholder 3"/>
          <p:cNvSpPr>
            <a:spLocks noGrp="1"/>
          </p:cNvSpPr>
          <p:nvPr>
            <p:ph type="sldNum" sz="quarter" idx="5"/>
          </p:nvPr>
        </p:nvSpPr>
        <p:spPr/>
        <p:txBody>
          <a:bodyPr/>
          <a:lstStyle/>
          <a:p>
            <a:fld id="{A86475B0-8188-E643-A3D4-9686005E7055}" type="slidenum">
              <a:rPr lang="en-US" smtClean="0"/>
              <a:t>24</a:t>
            </a:fld>
            <a:endParaRPr lang="en-US"/>
          </a:p>
        </p:txBody>
      </p:sp>
    </p:spTree>
    <p:extLst>
      <p:ext uri="{BB962C8B-B14F-4D97-AF65-F5344CB8AC3E}">
        <p14:creationId xmlns:p14="http://schemas.microsoft.com/office/powerpoint/2010/main" val="36929509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D2A0A-AFE5-397B-72E2-6394B136A6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D460674-BC63-8DD0-95BA-9C22952AA8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F7FF407-1841-FDA6-5243-6D58ED5D93E6}"/>
              </a:ext>
            </a:extLst>
          </p:cNvPr>
          <p:cNvSpPr>
            <a:spLocks noGrp="1"/>
          </p:cNvSpPr>
          <p:nvPr>
            <p:ph type="dt" sz="half" idx="10"/>
          </p:nvPr>
        </p:nvSpPr>
        <p:spPr/>
        <p:txBody>
          <a:bodyPr/>
          <a:lstStyle/>
          <a:p>
            <a:fld id="{ED3B3E58-17DF-2C49-B8CD-2F3C23F33B75}" type="datetimeFigureOut">
              <a:rPr lang="en-US" smtClean="0"/>
              <a:t>5/9/24</a:t>
            </a:fld>
            <a:endParaRPr lang="en-US"/>
          </a:p>
        </p:txBody>
      </p:sp>
      <p:sp>
        <p:nvSpPr>
          <p:cNvPr id="5" name="Footer Placeholder 4">
            <a:extLst>
              <a:ext uri="{FF2B5EF4-FFF2-40B4-BE49-F238E27FC236}">
                <a16:creationId xmlns:a16="http://schemas.microsoft.com/office/drawing/2014/main" id="{F0277E8B-C483-2E32-3849-DE97BF00BF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B859D0-5746-4031-58FC-9030EE8882FC}"/>
              </a:ext>
            </a:extLst>
          </p:cNvPr>
          <p:cNvSpPr>
            <a:spLocks noGrp="1"/>
          </p:cNvSpPr>
          <p:nvPr>
            <p:ph type="sldNum" sz="quarter" idx="12"/>
          </p:nvPr>
        </p:nvSpPr>
        <p:spPr/>
        <p:txBody>
          <a:bodyPr/>
          <a:lstStyle/>
          <a:p>
            <a:fld id="{8C307E43-1A93-014E-AE4B-2B189FAE02A8}" type="slidenum">
              <a:rPr lang="en-US" smtClean="0"/>
              <a:t>‹#›</a:t>
            </a:fld>
            <a:endParaRPr lang="en-US"/>
          </a:p>
        </p:txBody>
      </p:sp>
    </p:spTree>
    <p:extLst>
      <p:ext uri="{BB962C8B-B14F-4D97-AF65-F5344CB8AC3E}">
        <p14:creationId xmlns:p14="http://schemas.microsoft.com/office/powerpoint/2010/main" val="1407478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819AF-8CF6-0FF1-A907-0D3F5DC7B0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444C7E-5AC2-7487-BD57-C3060EEFE4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12B284-CF26-EC36-E3FC-7F8A007BE784}"/>
              </a:ext>
            </a:extLst>
          </p:cNvPr>
          <p:cNvSpPr>
            <a:spLocks noGrp="1"/>
          </p:cNvSpPr>
          <p:nvPr>
            <p:ph type="dt" sz="half" idx="10"/>
          </p:nvPr>
        </p:nvSpPr>
        <p:spPr/>
        <p:txBody>
          <a:bodyPr/>
          <a:lstStyle/>
          <a:p>
            <a:fld id="{ED3B3E58-17DF-2C49-B8CD-2F3C23F33B75}" type="datetimeFigureOut">
              <a:rPr lang="en-US" smtClean="0"/>
              <a:t>5/9/24</a:t>
            </a:fld>
            <a:endParaRPr lang="en-US"/>
          </a:p>
        </p:txBody>
      </p:sp>
      <p:sp>
        <p:nvSpPr>
          <p:cNvPr id="5" name="Footer Placeholder 4">
            <a:extLst>
              <a:ext uri="{FF2B5EF4-FFF2-40B4-BE49-F238E27FC236}">
                <a16:creationId xmlns:a16="http://schemas.microsoft.com/office/drawing/2014/main" id="{94CE286E-D017-5EE6-0F23-E3C4AEDE85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9CE543-7F75-95E4-8343-4FE1029314A4}"/>
              </a:ext>
            </a:extLst>
          </p:cNvPr>
          <p:cNvSpPr>
            <a:spLocks noGrp="1"/>
          </p:cNvSpPr>
          <p:nvPr>
            <p:ph type="sldNum" sz="quarter" idx="12"/>
          </p:nvPr>
        </p:nvSpPr>
        <p:spPr/>
        <p:txBody>
          <a:bodyPr/>
          <a:lstStyle/>
          <a:p>
            <a:fld id="{8C307E43-1A93-014E-AE4B-2B189FAE02A8}" type="slidenum">
              <a:rPr lang="en-US" smtClean="0"/>
              <a:t>‹#›</a:t>
            </a:fld>
            <a:endParaRPr lang="en-US"/>
          </a:p>
        </p:txBody>
      </p:sp>
    </p:spTree>
    <p:extLst>
      <p:ext uri="{BB962C8B-B14F-4D97-AF65-F5344CB8AC3E}">
        <p14:creationId xmlns:p14="http://schemas.microsoft.com/office/powerpoint/2010/main" val="962564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1D34B-C095-5B6F-EDC0-DCAA16B6DD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895A1A-3724-A528-19A3-FAE9248481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F4CD86-6003-A9AC-C11B-E0CF532FBF5F}"/>
              </a:ext>
            </a:extLst>
          </p:cNvPr>
          <p:cNvSpPr>
            <a:spLocks noGrp="1"/>
          </p:cNvSpPr>
          <p:nvPr>
            <p:ph type="dt" sz="half" idx="10"/>
          </p:nvPr>
        </p:nvSpPr>
        <p:spPr/>
        <p:txBody>
          <a:bodyPr/>
          <a:lstStyle/>
          <a:p>
            <a:fld id="{ED3B3E58-17DF-2C49-B8CD-2F3C23F33B75}" type="datetimeFigureOut">
              <a:rPr lang="en-US" smtClean="0"/>
              <a:t>5/9/24</a:t>
            </a:fld>
            <a:endParaRPr lang="en-US"/>
          </a:p>
        </p:txBody>
      </p:sp>
      <p:sp>
        <p:nvSpPr>
          <p:cNvPr id="5" name="Footer Placeholder 4">
            <a:extLst>
              <a:ext uri="{FF2B5EF4-FFF2-40B4-BE49-F238E27FC236}">
                <a16:creationId xmlns:a16="http://schemas.microsoft.com/office/drawing/2014/main" id="{AEE2107E-07BD-6713-1397-4C4F320E72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4EBB5C-A599-F52D-DDF4-234675C05DA9}"/>
              </a:ext>
            </a:extLst>
          </p:cNvPr>
          <p:cNvSpPr>
            <a:spLocks noGrp="1"/>
          </p:cNvSpPr>
          <p:nvPr>
            <p:ph type="sldNum" sz="quarter" idx="12"/>
          </p:nvPr>
        </p:nvSpPr>
        <p:spPr/>
        <p:txBody>
          <a:bodyPr/>
          <a:lstStyle/>
          <a:p>
            <a:fld id="{8C307E43-1A93-014E-AE4B-2B189FAE02A8}" type="slidenum">
              <a:rPr lang="en-US" smtClean="0"/>
              <a:t>‹#›</a:t>
            </a:fld>
            <a:endParaRPr lang="en-US"/>
          </a:p>
        </p:txBody>
      </p:sp>
    </p:spTree>
    <p:extLst>
      <p:ext uri="{BB962C8B-B14F-4D97-AF65-F5344CB8AC3E}">
        <p14:creationId xmlns:p14="http://schemas.microsoft.com/office/powerpoint/2010/main" val="3841197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39DC8-25EE-5557-5173-28CCC70EB9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87308E-9757-80F3-2B47-8BD2B31731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8562577-3F15-0E86-C8AC-064F45274F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29818AE-A6E4-3446-DF4A-41C6C7B0BDD0}"/>
              </a:ext>
            </a:extLst>
          </p:cNvPr>
          <p:cNvSpPr>
            <a:spLocks noGrp="1"/>
          </p:cNvSpPr>
          <p:nvPr>
            <p:ph type="dt" sz="half" idx="10"/>
          </p:nvPr>
        </p:nvSpPr>
        <p:spPr/>
        <p:txBody>
          <a:bodyPr/>
          <a:lstStyle/>
          <a:p>
            <a:fld id="{ED3B3E58-17DF-2C49-B8CD-2F3C23F33B75}" type="datetimeFigureOut">
              <a:rPr lang="en-US" smtClean="0"/>
              <a:t>5/9/24</a:t>
            </a:fld>
            <a:endParaRPr lang="en-US"/>
          </a:p>
        </p:txBody>
      </p:sp>
      <p:sp>
        <p:nvSpPr>
          <p:cNvPr id="6" name="Footer Placeholder 5">
            <a:extLst>
              <a:ext uri="{FF2B5EF4-FFF2-40B4-BE49-F238E27FC236}">
                <a16:creationId xmlns:a16="http://schemas.microsoft.com/office/drawing/2014/main" id="{B09285F8-2E18-D7F1-306A-B4688FAD35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07F9E2-0BB0-8630-4E46-71F8BBBBA737}"/>
              </a:ext>
            </a:extLst>
          </p:cNvPr>
          <p:cNvSpPr>
            <a:spLocks noGrp="1"/>
          </p:cNvSpPr>
          <p:nvPr>
            <p:ph type="sldNum" sz="quarter" idx="12"/>
          </p:nvPr>
        </p:nvSpPr>
        <p:spPr/>
        <p:txBody>
          <a:bodyPr/>
          <a:lstStyle/>
          <a:p>
            <a:fld id="{8C307E43-1A93-014E-AE4B-2B189FAE02A8}" type="slidenum">
              <a:rPr lang="en-US" smtClean="0"/>
              <a:t>‹#›</a:t>
            </a:fld>
            <a:endParaRPr lang="en-US"/>
          </a:p>
        </p:txBody>
      </p:sp>
    </p:spTree>
    <p:extLst>
      <p:ext uri="{BB962C8B-B14F-4D97-AF65-F5344CB8AC3E}">
        <p14:creationId xmlns:p14="http://schemas.microsoft.com/office/powerpoint/2010/main" val="3763073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56C40-F08A-6CB8-8382-094B8C30A6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4B609A7-82D2-ABA4-1847-00AA0CCB7E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D2BBC7-957E-1172-45B8-443BFE3AB4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6D76D62-89C8-1F7A-2FF5-FEEAF3585D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87643E-22F4-EC48-7DB1-71AC32B743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146161D-C5B6-6CC7-E8CF-2032639C0ACE}"/>
              </a:ext>
            </a:extLst>
          </p:cNvPr>
          <p:cNvSpPr>
            <a:spLocks noGrp="1"/>
          </p:cNvSpPr>
          <p:nvPr>
            <p:ph type="dt" sz="half" idx="10"/>
          </p:nvPr>
        </p:nvSpPr>
        <p:spPr/>
        <p:txBody>
          <a:bodyPr/>
          <a:lstStyle/>
          <a:p>
            <a:fld id="{ED3B3E58-17DF-2C49-B8CD-2F3C23F33B75}" type="datetimeFigureOut">
              <a:rPr lang="en-US" smtClean="0"/>
              <a:t>5/9/24</a:t>
            </a:fld>
            <a:endParaRPr lang="en-US"/>
          </a:p>
        </p:txBody>
      </p:sp>
      <p:sp>
        <p:nvSpPr>
          <p:cNvPr id="8" name="Footer Placeholder 7">
            <a:extLst>
              <a:ext uri="{FF2B5EF4-FFF2-40B4-BE49-F238E27FC236}">
                <a16:creationId xmlns:a16="http://schemas.microsoft.com/office/drawing/2014/main" id="{780FE471-490E-BBE6-B088-450548B3BC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18271BC-167C-D6C6-A5F7-FE4D439AA0C4}"/>
              </a:ext>
            </a:extLst>
          </p:cNvPr>
          <p:cNvSpPr>
            <a:spLocks noGrp="1"/>
          </p:cNvSpPr>
          <p:nvPr>
            <p:ph type="sldNum" sz="quarter" idx="12"/>
          </p:nvPr>
        </p:nvSpPr>
        <p:spPr/>
        <p:txBody>
          <a:bodyPr/>
          <a:lstStyle/>
          <a:p>
            <a:fld id="{8C307E43-1A93-014E-AE4B-2B189FAE02A8}" type="slidenum">
              <a:rPr lang="en-US" smtClean="0"/>
              <a:t>‹#›</a:t>
            </a:fld>
            <a:endParaRPr lang="en-US"/>
          </a:p>
        </p:txBody>
      </p:sp>
    </p:spTree>
    <p:extLst>
      <p:ext uri="{BB962C8B-B14F-4D97-AF65-F5344CB8AC3E}">
        <p14:creationId xmlns:p14="http://schemas.microsoft.com/office/powerpoint/2010/main" val="3033220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518A5-33CF-81DE-43C6-28489C30E16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3735525-B085-62E1-C3F3-BA91701D1E0B}"/>
              </a:ext>
            </a:extLst>
          </p:cNvPr>
          <p:cNvSpPr>
            <a:spLocks noGrp="1"/>
          </p:cNvSpPr>
          <p:nvPr>
            <p:ph type="dt" sz="half" idx="10"/>
          </p:nvPr>
        </p:nvSpPr>
        <p:spPr/>
        <p:txBody>
          <a:bodyPr/>
          <a:lstStyle/>
          <a:p>
            <a:fld id="{ED3B3E58-17DF-2C49-B8CD-2F3C23F33B75}" type="datetimeFigureOut">
              <a:rPr lang="en-US" smtClean="0"/>
              <a:t>5/9/24</a:t>
            </a:fld>
            <a:endParaRPr lang="en-US"/>
          </a:p>
        </p:txBody>
      </p:sp>
      <p:sp>
        <p:nvSpPr>
          <p:cNvPr id="4" name="Footer Placeholder 3">
            <a:extLst>
              <a:ext uri="{FF2B5EF4-FFF2-40B4-BE49-F238E27FC236}">
                <a16:creationId xmlns:a16="http://schemas.microsoft.com/office/drawing/2014/main" id="{C2743439-74C6-1EC7-4CB1-7B8101AA5B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A51D77A-531D-4BF3-3D6F-9F56778E98B7}"/>
              </a:ext>
            </a:extLst>
          </p:cNvPr>
          <p:cNvSpPr>
            <a:spLocks noGrp="1"/>
          </p:cNvSpPr>
          <p:nvPr>
            <p:ph type="sldNum" sz="quarter" idx="12"/>
          </p:nvPr>
        </p:nvSpPr>
        <p:spPr/>
        <p:txBody>
          <a:bodyPr/>
          <a:lstStyle/>
          <a:p>
            <a:fld id="{8C307E43-1A93-014E-AE4B-2B189FAE02A8}" type="slidenum">
              <a:rPr lang="en-US" smtClean="0"/>
              <a:t>‹#›</a:t>
            </a:fld>
            <a:endParaRPr lang="en-US"/>
          </a:p>
        </p:txBody>
      </p:sp>
    </p:spTree>
    <p:extLst>
      <p:ext uri="{BB962C8B-B14F-4D97-AF65-F5344CB8AC3E}">
        <p14:creationId xmlns:p14="http://schemas.microsoft.com/office/powerpoint/2010/main" val="627585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B70742-A6E0-265F-DA1D-A666434DBEA6}"/>
              </a:ext>
            </a:extLst>
          </p:cNvPr>
          <p:cNvSpPr>
            <a:spLocks noGrp="1"/>
          </p:cNvSpPr>
          <p:nvPr>
            <p:ph type="dt" sz="half" idx="10"/>
          </p:nvPr>
        </p:nvSpPr>
        <p:spPr/>
        <p:txBody>
          <a:bodyPr/>
          <a:lstStyle/>
          <a:p>
            <a:fld id="{ED3B3E58-17DF-2C49-B8CD-2F3C23F33B75}" type="datetimeFigureOut">
              <a:rPr lang="en-US" smtClean="0"/>
              <a:t>5/9/24</a:t>
            </a:fld>
            <a:endParaRPr lang="en-US"/>
          </a:p>
        </p:txBody>
      </p:sp>
      <p:sp>
        <p:nvSpPr>
          <p:cNvPr id="3" name="Footer Placeholder 2">
            <a:extLst>
              <a:ext uri="{FF2B5EF4-FFF2-40B4-BE49-F238E27FC236}">
                <a16:creationId xmlns:a16="http://schemas.microsoft.com/office/drawing/2014/main" id="{C9842297-5059-AEF8-4036-24D4E5F3536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EE6968-C46B-E546-CB38-1F4170A38653}"/>
              </a:ext>
            </a:extLst>
          </p:cNvPr>
          <p:cNvSpPr>
            <a:spLocks noGrp="1"/>
          </p:cNvSpPr>
          <p:nvPr>
            <p:ph type="sldNum" sz="quarter" idx="12"/>
          </p:nvPr>
        </p:nvSpPr>
        <p:spPr/>
        <p:txBody>
          <a:bodyPr/>
          <a:lstStyle/>
          <a:p>
            <a:fld id="{8C307E43-1A93-014E-AE4B-2B189FAE02A8}" type="slidenum">
              <a:rPr lang="en-US" smtClean="0"/>
              <a:t>‹#›</a:t>
            </a:fld>
            <a:endParaRPr lang="en-US"/>
          </a:p>
        </p:txBody>
      </p:sp>
    </p:spTree>
    <p:extLst>
      <p:ext uri="{BB962C8B-B14F-4D97-AF65-F5344CB8AC3E}">
        <p14:creationId xmlns:p14="http://schemas.microsoft.com/office/powerpoint/2010/main" val="331996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05DC8-452C-B01E-0EAD-8BD2F12010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37A961F-C88A-EC46-A1D7-FC06D7DA12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D67CDB-0373-C9ED-F32B-F197596E85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F08DEE-CC55-B75A-C175-D9BB8E43E3AB}"/>
              </a:ext>
            </a:extLst>
          </p:cNvPr>
          <p:cNvSpPr>
            <a:spLocks noGrp="1"/>
          </p:cNvSpPr>
          <p:nvPr>
            <p:ph type="dt" sz="half" idx="10"/>
          </p:nvPr>
        </p:nvSpPr>
        <p:spPr/>
        <p:txBody>
          <a:bodyPr/>
          <a:lstStyle/>
          <a:p>
            <a:fld id="{ED3B3E58-17DF-2C49-B8CD-2F3C23F33B75}" type="datetimeFigureOut">
              <a:rPr lang="en-US" smtClean="0"/>
              <a:t>5/9/24</a:t>
            </a:fld>
            <a:endParaRPr lang="en-US"/>
          </a:p>
        </p:txBody>
      </p:sp>
      <p:sp>
        <p:nvSpPr>
          <p:cNvPr id="6" name="Footer Placeholder 5">
            <a:extLst>
              <a:ext uri="{FF2B5EF4-FFF2-40B4-BE49-F238E27FC236}">
                <a16:creationId xmlns:a16="http://schemas.microsoft.com/office/drawing/2014/main" id="{3194CB87-E2B6-DCB4-B3AB-9C0DE9008B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898A69-FC3F-202D-0421-34436C1E02F8}"/>
              </a:ext>
            </a:extLst>
          </p:cNvPr>
          <p:cNvSpPr>
            <a:spLocks noGrp="1"/>
          </p:cNvSpPr>
          <p:nvPr>
            <p:ph type="sldNum" sz="quarter" idx="12"/>
          </p:nvPr>
        </p:nvSpPr>
        <p:spPr/>
        <p:txBody>
          <a:bodyPr/>
          <a:lstStyle/>
          <a:p>
            <a:fld id="{8C307E43-1A93-014E-AE4B-2B189FAE02A8}" type="slidenum">
              <a:rPr lang="en-US" smtClean="0"/>
              <a:t>‹#›</a:t>
            </a:fld>
            <a:endParaRPr lang="en-US"/>
          </a:p>
        </p:txBody>
      </p:sp>
    </p:spTree>
    <p:extLst>
      <p:ext uri="{BB962C8B-B14F-4D97-AF65-F5344CB8AC3E}">
        <p14:creationId xmlns:p14="http://schemas.microsoft.com/office/powerpoint/2010/main" val="700938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49749-1752-11C6-75A6-255E8627AA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7CBE36-D229-68EB-B912-A1A6E55242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D64F2F7-BBA1-3B69-6001-87031B25A3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E0A2E7-5CCD-A443-B1FC-8DBB98C799CD}"/>
              </a:ext>
            </a:extLst>
          </p:cNvPr>
          <p:cNvSpPr>
            <a:spLocks noGrp="1"/>
          </p:cNvSpPr>
          <p:nvPr>
            <p:ph type="dt" sz="half" idx="10"/>
          </p:nvPr>
        </p:nvSpPr>
        <p:spPr/>
        <p:txBody>
          <a:bodyPr/>
          <a:lstStyle/>
          <a:p>
            <a:fld id="{ED3B3E58-17DF-2C49-B8CD-2F3C23F33B75}" type="datetimeFigureOut">
              <a:rPr lang="en-US" smtClean="0"/>
              <a:t>5/9/24</a:t>
            </a:fld>
            <a:endParaRPr lang="en-US"/>
          </a:p>
        </p:txBody>
      </p:sp>
      <p:sp>
        <p:nvSpPr>
          <p:cNvPr id="6" name="Footer Placeholder 5">
            <a:extLst>
              <a:ext uri="{FF2B5EF4-FFF2-40B4-BE49-F238E27FC236}">
                <a16:creationId xmlns:a16="http://schemas.microsoft.com/office/drawing/2014/main" id="{5D4174E9-C82C-AD06-6760-2AD420F55F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FD1B51-EC0E-4A95-151E-847ABAB969B3}"/>
              </a:ext>
            </a:extLst>
          </p:cNvPr>
          <p:cNvSpPr>
            <a:spLocks noGrp="1"/>
          </p:cNvSpPr>
          <p:nvPr>
            <p:ph type="sldNum" sz="quarter" idx="12"/>
          </p:nvPr>
        </p:nvSpPr>
        <p:spPr/>
        <p:txBody>
          <a:bodyPr/>
          <a:lstStyle/>
          <a:p>
            <a:fld id="{8C307E43-1A93-014E-AE4B-2B189FAE02A8}" type="slidenum">
              <a:rPr lang="en-US" smtClean="0"/>
              <a:t>‹#›</a:t>
            </a:fld>
            <a:endParaRPr lang="en-US"/>
          </a:p>
        </p:txBody>
      </p:sp>
    </p:spTree>
    <p:extLst>
      <p:ext uri="{BB962C8B-B14F-4D97-AF65-F5344CB8AC3E}">
        <p14:creationId xmlns:p14="http://schemas.microsoft.com/office/powerpoint/2010/main" val="548021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05E06-AE72-7404-ADA6-EA2C101C29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33159B-7105-3B62-A234-E3B4336D35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687D33-C78E-75E9-44FD-3521DB6156D7}"/>
              </a:ext>
            </a:extLst>
          </p:cNvPr>
          <p:cNvSpPr>
            <a:spLocks noGrp="1"/>
          </p:cNvSpPr>
          <p:nvPr>
            <p:ph type="dt" sz="half" idx="10"/>
          </p:nvPr>
        </p:nvSpPr>
        <p:spPr/>
        <p:txBody>
          <a:bodyPr/>
          <a:lstStyle/>
          <a:p>
            <a:fld id="{ED3B3E58-17DF-2C49-B8CD-2F3C23F33B75}" type="datetimeFigureOut">
              <a:rPr lang="en-US" smtClean="0"/>
              <a:t>5/9/24</a:t>
            </a:fld>
            <a:endParaRPr lang="en-US"/>
          </a:p>
        </p:txBody>
      </p:sp>
      <p:sp>
        <p:nvSpPr>
          <p:cNvPr id="5" name="Footer Placeholder 4">
            <a:extLst>
              <a:ext uri="{FF2B5EF4-FFF2-40B4-BE49-F238E27FC236}">
                <a16:creationId xmlns:a16="http://schemas.microsoft.com/office/drawing/2014/main" id="{DE350EF2-E64F-AE49-24FD-891E754C44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65B547-32A0-2BB6-1BEE-794BA62D934B}"/>
              </a:ext>
            </a:extLst>
          </p:cNvPr>
          <p:cNvSpPr>
            <a:spLocks noGrp="1"/>
          </p:cNvSpPr>
          <p:nvPr>
            <p:ph type="sldNum" sz="quarter" idx="12"/>
          </p:nvPr>
        </p:nvSpPr>
        <p:spPr/>
        <p:txBody>
          <a:bodyPr/>
          <a:lstStyle/>
          <a:p>
            <a:fld id="{8C307E43-1A93-014E-AE4B-2B189FAE02A8}" type="slidenum">
              <a:rPr lang="en-US" smtClean="0"/>
              <a:t>‹#›</a:t>
            </a:fld>
            <a:endParaRPr lang="en-US"/>
          </a:p>
        </p:txBody>
      </p:sp>
    </p:spTree>
    <p:extLst>
      <p:ext uri="{BB962C8B-B14F-4D97-AF65-F5344CB8AC3E}">
        <p14:creationId xmlns:p14="http://schemas.microsoft.com/office/powerpoint/2010/main" val="4087497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3E8611-472F-C7F8-2CB9-ACE03254A39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3B31774-C905-C9E9-2746-1FDB36A49D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C0DB64-17E4-1C84-AA15-2B2BD1BDDCFA}"/>
              </a:ext>
            </a:extLst>
          </p:cNvPr>
          <p:cNvSpPr>
            <a:spLocks noGrp="1"/>
          </p:cNvSpPr>
          <p:nvPr>
            <p:ph type="dt" sz="half" idx="10"/>
          </p:nvPr>
        </p:nvSpPr>
        <p:spPr/>
        <p:txBody>
          <a:bodyPr/>
          <a:lstStyle/>
          <a:p>
            <a:fld id="{ED3B3E58-17DF-2C49-B8CD-2F3C23F33B75}" type="datetimeFigureOut">
              <a:rPr lang="en-US" smtClean="0"/>
              <a:t>5/9/24</a:t>
            </a:fld>
            <a:endParaRPr lang="en-US"/>
          </a:p>
        </p:txBody>
      </p:sp>
      <p:sp>
        <p:nvSpPr>
          <p:cNvPr id="5" name="Footer Placeholder 4">
            <a:extLst>
              <a:ext uri="{FF2B5EF4-FFF2-40B4-BE49-F238E27FC236}">
                <a16:creationId xmlns:a16="http://schemas.microsoft.com/office/drawing/2014/main" id="{B238DB26-C7D4-9FE2-8DBD-316EB0C5C8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108632-FEBC-AE13-34C8-8881563B3641}"/>
              </a:ext>
            </a:extLst>
          </p:cNvPr>
          <p:cNvSpPr>
            <a:spLocks noGrp="1"/>
          </p:cNvSpPr>
          <p:nvPr>
            <p:ph type="sldNum" sz="quarter" idx="12"/>
          </p:nvPr>
        </p:nvSpPr>
        <p:spPr/>
        <p:txBody>
          <a:bodyPr/>
          <a:lstStyle/>
          <a:p>
            <a:fld id="{8C307E43-1A93-014E-AE4B-2B189FAE02A8}" type="slidenum">
              <a:rPr lang="en-US" smtClean="0"/>
              <a:t>‹#›</a:t>
            </a:fld>
            <a:endParaRPr lang="en-US"/>
          </a:p>
        </p:txBody>
      </p:sp>
    </p:spTree>
    <p:extLst>
      <p:ext uri="{BB962C8B-B14F-4D97-AF65-F5344CB8AC3E}">
        <p14:creationId xmlns:p14="http://schemas.microsoft.com/office/powerpoint/2010/main" val="287234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8CB2A7-9BA5-E593-6453-EBF423DB36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3A70130-9E63-8EBA-9B4B-7688C5C478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FAF9FC-726F-C04D-6F96-FBD69D9C0F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3B3E58-17DF-2C49-B8CD-2F3C23F33B75}" type="datetimeFigureOut">
              <a:rPr lang="en-US" smtClean="0"/>
              <a:t>5/9/24</a:t>
            </a:fld>
            <a:endParaRPr lang="en-US"/>
          </a:p>
        </p:txBody>
      </p:sp>
      <p:sp>
        <p:nvSpPr>
          <p:cNvPr id="5" name="Footer Placeholder 4">
            <a:extLst>
              <a:ext uri="{FF2B5EF4-FFF2-40B4-BE49-F238E27FC236}">
                <a16:creationId xmlns:a16="http://schemas.microsoft.com/office/drawing/2014/main" id="{6BD73D1C-ABAC-4C24-81CB-B74ED8EC7B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4291B7A-B225-AFCC-9795-6C4CF86637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307E43-1A93-014E-AE4B-2B189FAE02A8}" type="slidenum">
              <a:rPr lang="en-US" smtClean="0"/>
              <a:t>‹#›</a:t>
            </a:fld>
            <a:endParaRPr lang="en-US"/>
          </a:p>
        </p:txBody>
      </p:sp>
    </p:spTree>
    <p:extLst>
      <p:ext uri="{BB962C8B-B14F-4D97-AF65-F5344CB8AC3E}">
        <p14:creationId xmlns:p14="http://schemas.microsoft.com/office/powerpoint/2010/main" val="11006889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15796-B415-9EAE-1CE7-C851954172C0}"/>
              </a:ext>
            </a:extLst>
          </p:cNvPr>
          <p:cNvSpPr>
            <a:spLocks noGrp="1"/>
          </p:cNvSpPr>
          <p:nvPr>
            <p:ph type="ctrTitle"/>
          </p:nvPr>
        </p:nvSpPr>
        <p:spPr/>
        <p:txBody>
          <a:bodyPr/>
          <a:lstStyle/>
          <a:p>
            <a:r>
              <a:rPr lang="en-US" dirty="0"/>
              <a:t>MS Capstone</a:t>
            </a:r>
            <a:br>
              <a:rPr lang="en-US" dirty="0"/>
            </a:br>
            <a:r>
              <a:rPr lang="en-US" dirty="0"/>
              <a:t>Tufts University</a:t>
            </a:r>
          </a:p>
        </p:txBody>
      </p:sp>
      <p:sp>
        <p:nvSpPr>
          <p:cNvPr id="3" name="Subtitle 2">
            <a:extLst>
              <a:ext uri="{FF2B5EF4-FFF2-40B4-BE49-F238E27FC236}">
                <a16:creationId xmlns:a16="http://schemas.microsoft.com/office/drawing/2014/main" id="{F2F39F85-DA0F-8893-B1CE-92BAEC2DD6F3}"/>
              </a:ext>
            </a:extLst>
          </p:cNvPr>
          <p:cNvSpPr>
            <a:spLocks noGrp="1"/>
          </p:cNvSpPr>
          <p:nvPr>
            <p:ph type="subTitle" idx="1"/>
          </p:nvPr>
        </p:nvSpPr>
        <p:spPr/>
        <p:txBody>
          <a:bodyPr/>
          <a:lstStyle/>
          <a:p>
            <a:r>
              <a:rPr lang="en-US" dirty="0"/>
              <a:t>Kevin Ortiz</a:t>
            </a:r>
          </a:p>
        </p:txBody>
      </p:sp>
    </p:spTree>
    <p:extLst>
      <p:ext uri="{BB962C8B-B14F-4D97-AF65-F5344CB8AC3E}">
        <p14:creationId xmlns:p14="http://schemas.microsoft.com/office/powerpoint/2010/main" val="4225655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DAA14-50FC-A2AF-72D2-DD4E6634B095}"/>
              </a:ext>
            </a:extLst>
          </p:cNvPr>
          <p:cNvSpPr>
            <a:spLocks noGrp="1"/>
          </p:cNvSpPr>
          <p:nvPr>
            <p:ph type="ctrTitle"/>
          </p:nvPr>
        </p:nvSpPr>
        <p:spPr>
          <a:xfrm>
            <a:off x="1361162" y="1485618"/>
            <a:ext cx="9144000" cy="2387600"/>
          </a:xfrm>
        </p:spPr>
        <p:txBody>
          <a:bodyPr/>
          <a:lstStyle/>
          <a:p>
            <a:r>
              <a:rPr lang="en-US" dirty="0"/>
              <a:t>Overview</a:t>
            </a:r>
          </a:p>
        </p:txBody>
      </p:sp>
    </p:spTree>
    <p:extLst>
      <p:ext uri="{BB962C8B-B14F-4D97-AF65-F5344CB8AC3E}">
        <p14:creationId xmlns:p14="http://schemas.microsoft.com/office/powerpoint/2010/main" val="3785204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8B678-5771-75E1-E8B9-A515D6DDCE0E}"/>
              </a:ext>
            </a:extLst>
          </p:cNvPr>
          <p:cNvSpPr>
            <a:spLocks noGrp="1"/>
          </p:cNvSpPr>
          <p:nvPr>
            <p:ph type="title"/>
          </p:nvPr>
        </p:nvSpPr>
        <p:spPr/>
        <p:txBody>
          <a:bodyPr/>
          <a:lstStyle/>
          <a:p>
            <a:r>
              <a:rPr lang="en-US" dirty="0"/>
              <a:t>Idea</a:t>
            </a:r>
          </a:p>
        </p:txBody>
      </p:sp>
      <p:sp>
        <p:nvSpPr>
          <p:cNvPr id="3" name="Content Placeholder 2">
            <a:extLst>
              <a:ext uri="{FF2B5EF4-FFF2-40B4-BE49-F238E27FC236}">
                <a16:creationId xmlns:a16="http://schemas.microsoft.com/office/drawing/2014/main" id="{D0BBFB52-50E4-05DA-2EC8-16BAE2CE8E96}"/>
              </a:ext>
            </a:extLst>
          </p:cNvPr>
          <p:cNvSpPr>
            <a:spLocks noGrp="1"/>
          </p:cNvSpPr>
          <p:nvPr>
            <p:ph idx="1"/>
          </p:nvPr>
        </p:nvSpPr>
        <p:spPr/>
        <p:txBody>
          <a:bodyPr/>
          <a:lstStyle/>
          <a:p>
            <a:r>
              <a:rPr lang="en-US" dirty="0"/>
              <a:t>Millions of people have immigrated to the United States and the census has captured information about a lot of them. </a:t>
            </a:r>
          </a:p>
          <a:p>
            <a:r>
              <a:rPr lang="en-US" dirty="0"/>
              <a:t>What if there was one “person”, let’s call them Oracle, who remembered the information of every single immigrant; when they first came and their life afterward. Then if a new person immigrates, Oracle can search their memory for previous immigrants who were similar to the new person.</a:t>
            </a:r>
          </a:p>
          <a:p>
            <a:r>
              <a:rPr lang="en-US" dirty="0"/>
              <a:t>This would enable Oracle to give personalized guidance to the new immigrant. Capitalizing on learned patterns of those who have come before.</a:t>
            </a:r>
          </a:p>
        </p:txBody>
      </p:sp>
    </p:spTree>
    <p:extLst>
      <p:ext uri="{BB962C8B-B14F-4D97-AF65-F5344CB8AC3E}">
        <p14:creationId xmlns:p14="http://schemas.microsoft.com/office/powerpoint/2010/main" val="24994398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9D8D2-5A7A-2544-1824-4AD5DCAB4019}"/>
              </a:ext>
            </a:extLst>
          </p:cNvPr>
          <p:cNvSpPr>
            <a:spLocks noGrp="1"/>
          </p:cNvSpPr>
          <p:nvPr>
            <p:ph type="title"/>
          </p:nvPr>
        </p:nvSpPr>
        <p:spPr/>
        <p:txBody>
          <a:bodyPr/>
          <a:lstStyle/>
          <a:p>
            <a:r>
              <a:rPr lang="en-US" dirty="0"/>
              <a:t>Data Limitations</a:t>
            </a:r>
          </a:p>
        </p:txBody>
      </p:sp>
      <p:sp>
        <p:nvSpPr>
          <p:cNvPr id="3" name="Content Placeholder 2">
            <a:extLst>
              <a:ext uri="{FF2B5EF4-FFF2-40B4-BE49-F238E27FC236}">
                <a16:creationId xmlns:a16="http://schemas.microsoft.com/office/drawing/2014/main" id="{9C5EC293-3265-A146-177A-176869942CD7}"/>
              </a:ext>
            </a:extLst>
          </p:cNvPr>
          <p:cNvSpPr>
            <a:spLocks noGrp="1"/>
          </p:cNvSpPr>
          <p:nvPr>
            <p:ph idx="1"/>
          </p:nvPr>
        </p:nvSpPr>
        <p:spPr/>
        <p:txBody>
          <a:bodyPr/>
          <a:lstStyle/>
          <a:p>
            <a:r>
              <a:rPr lang="en-US" dirty="0"/>
              <a:t>Census data is anonymized, we can’t follow a specific individual over time.</a:t>
            </a:r>
          </a:p>
          <a:p>
            <a:r>
              <a:rPr lang="en-US" dirty="0"/>
              <a:t>Census data depends on the willingness of the individual to give it. There were a lot of </a:t>
            </a:r>
            <a:r>
              <a:rPr lang="en-US" dirty="0" err="1"/>
              <a:t>NaN</a:t>
            </a:r>
            <a:r>
              <a:rPr lang="en-US" dirty="0"/>
              <a:t> values that had to be accounted for.</a:t>
            </a:r>
          </a:p>
          <a:p>
            <a:endParaRPr lang="en-US" dirty="0"/>
          </a:p>
        </p:txBody>
      </p:sp>
    </p:spTree>
    <p:extLst>
      <p:ext uri="{BB962C8B-B14F-4D97-AF65-F5344CB8AC3E}">
        <p14:creationId xmlns:p14="http://schemas.microsoft.com/office/powerpoint/2010/main" val="465463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3E7D9-D8DD-566A-FD62-FA43780CBCD4}"/>
              </a:ext>
            </a:extLst>
          </p:cNvPr>
          <p:cNvSpPr>
            <a:spLocks noGrp="1"/>
          </p:cNvSpPr>
          <p:nvPr>
            <p:ph type="ctrTitle"/>
          </p:nvPr>
        </p:nvSpPr>
        <p:spPr>
          <a:xfrm>
            <a:off x="1411265" y="1485618"/>
            <a:ext cx="9144000" cy="2387600"/>
          </a:xfrm>
        </p:spPr>
        <p:txBody>
          <a:bodyPr/>
          <a:lstStyle/>
          <a:p>
            <a:r>
              <a:rPr lang="en-US" dirty="0"/>
              <a:t>Methodology</a:t>
            </a:r>
          </a:p>
        </p:txBody>
      </p:sp>
    </p:spTree>
    <p:extLst>
      <p:ext uri="{BB962C8B-B14F-4D97-AF65-F5344CB8AC3E}">
        <p14:creationId xmlns:p14="http://schemas.microsoft.com/office/powerpoint/2010/main" val="2165779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90625-4A05-6765-6EF6-B722A24D2DCC}"/>
              </a:ext>
            </a:extLst>
          </p:cNvPr>
          <p:cNvSpPr>
            <a:spLocks noGrp="1"/>
          </p:cNvSpPr>
          <p:nvPr>
            <p:ph type="title"/>
          </p:nvPr>
        </p:nvSpPr>
        <p:spPr/>
        <p:txBody>
          <a:bodyPr/>
          <a:lstStyle/>
          <a:p>
            <a:r>
              <a:rPr lang="en-US" dirty="0"/>
              <a:t>Reinforcement Learning</a:t>
            </a:r>
          </a:p>
        </p:txBody>
      </p:sp>
      <p:sp>
        <p:nvSpPr>
          <p:cNvPr id="3" name="Content Placeholder 2">
            <a:extLst>
              <a:ext uri="{FF2B5EF4-FFF2-40B4-BE49-F238E27FC236}">
                <a16:creationId xmlns:a16="http://schemas.microsoft.com/office/drawing/2014/main" id="{6E924C7B-646B-E0C1-754E-ED6911D44FF5}"/>
              </a:ext>
            </a:extLst>
          </p:cNvPr>
          <p:cNvSpPr>
            <a:spLocks noGrp="1"/>
          </p:cNvSpPr>
          <p:nvPr>
            <p:ph idx="1"/>
          </p:nvPr>
        </p:nvSpPr>
        <p:spPr/>
        <p:txBody>
          <a:bodyPr>
            <a:normAutofit fontScale="92500" lnSpcReduction="10000"/>
          </a:bodyPr>
          <a:lstStyle/>
          <a:p>
            <a:r>
              <a:rPr lang="en-US" dirty="0"/>
              <a:t>I defined success as income, Oracle would provide personalized guidance as to what characteristics of your census profile you could change to increase your income.</a:t>
            </a:r>
          </a:p>
          <a:p>
            <a:r>
              <a:rPr lang="en-US" dirty="0"/>
              <a:t>As I fed Oracle each profile, one by one, I wanted it to remember which profiles indicated a certain level of income, this required a classifier to predict what income level a profile would fall under</a:t>
            </a:r>
          </a:p>
          <a:p>
            <a:pPr lvl="1"/>
            <a:r>
              <a:rPr lang="en-US" dirty="0"/>
              <a:t>There were 109 different variables provided by the census. I constrained by profile characteristics to these 22: </a:t>
            </a:r>
          </a:p>
          <a:p>
            <a:pPr marL="457200" lvl="1" indent="0">
              <a:buNone/>
            </a:pPr>
            <a:r>
              <a:rPr lang="en-US" dirty="0"/>
              <a:t>   [STATEFIP, METRO, OWNERSHPD, MORTGAGE, NCHILD, SEX, AGE, MARST,</a:t>
            </a:r>
          </a:p>
          <a:p>
            <a:pPr marL="457200" lvl="1" indent="0">
              <a:buNone/>
            </a:pPr>
            <a:r>
              <a:rPr lang="en-US" dirty="0"/>
              <a:t>    RACE, HISPAN, BPL, CITIZEN, YRSUSA1, LANGUAGE, SPEAKENG, SCHOOL,</a:t>
            </a:r>
          </a:p>
          <a:p>
            <a:pPr marL="457200" lvl="1" indent="0">
              <a:buNone/>
            </a:pPr>
            <a:r>
              <a:rPr lang="en-US" dirty="0"/>
              <a:t>    EDUC, EMPSTAT, OCC, UHRSWORK, TRANWORK, CARPOOL]</a:t>
            </a:r>
          </a:p>
          <a:p>
            <a:pPr lvl="1"/>
            <a:r>
              <a:rPr lang="en-US" dirty="0"/>
              <a:t>I constrained my classifier output to 4 income brackets: Tier 1 (lowest), Tier 2, Tier 3, Tier 4 (highest)</a:t>
            </a:r>
          </a:p>
          <a:p>
            <a:pPr marL="457200" lvl="1" indent="0">
              <a:buNone/>
            </a:pPr>
            <a:endParaRPr lang="en-US" dirty="0"/>
          </a:p>
          <a:p>
            <a:pPr lvl="1"/>
            <a:endParaRPr lang="en-US" dirty="0"/>
          </a:p>
        </p:txBody>
      </p:sp>
    </p:spTree>
    <p:extLst>
      <p:ext uri="{BB962C8B-B14F-4D97-AF65-F5344CB8AC3E}">
        <p14:creationId xmlns:p14="http://schemas.microsoft.com/office/powerpoint/2010/main" val="2021233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7B827-9167-255E-7C0D-78CC4E7693A8}"/>
              </a:ext>
            </a:extLst>
          </p:cNvPr>
          <p:cNvSpPr>
            <a:spLocks noGrp="1"/>
          </p:cNvSpPr>
          <p:nvPr>
            <p:ph type="title"/>
          </p:nvPr>
        </p:nvSpPr>
        <p:spPr/>
        <p:txBody>
          <a:bodyPr/>
          <a:lstStyle/>
          <a:p>
            <a:r>
              <a:rPr lang="en-US" dirty="0"/>
              <a:t>Classifier</a:t>
            </a:r>
          </a:p>
        </p:txBody>
      </p:sp>
      <p:sp>
        <p:nvSpPr>
          <p:cNvPr id="3" name="Content Placeholder 2">
            <a:extLst>
              <a:ext uri="{FF2B5EF4-FFF2-40B4-BE49-F238E27FC236}">
                <a16:creationId xmlns:a16="http://schemas.microsoft.com/office/drawing/2014/main" id="{A561686C-3CEF-F5BB-2C0B-AFAE9EAE4D88}"/>
              </a:ext>
            </a:extLst>
          </p:cNvPr>
          <p:cNvSpPr>
            <a:spLocks noGrp="1"/>
          </p:cNvSpPr>
          <p:nvPr>
            <p:ph idx="1"/>
          </p:nvPr>
        </p:nvSpPr>
        <p:spPr/>
        <p:txBody>
          <a:bodyPr/>
          <a:lstStyle/>
          <a:p>
            <a:r>
              <a:rPr lang="en-US" dirty="0"/>
              <a:t>Since I had several characteristics and millions of data points, I tried fitting my data to models that were adept at handling high-dimensional data. I tried and tuned the following:</a:t>
            </a:r>
          </a:p>
          <a:p>
            <a:pPr lvl="1"/>
            <a:r>
              <a:rPr lang="en-US" b="0" i="0" dirty="0">
                <a:solidFill>
                  <a:srgbClr val="212529"/>
                </a:solidFill>
                <a:effectLst/>
                <a:highlight>
                  <a:srgbClr val="FFFFFF"/>
                </a:highlight>
                <a:latin typeface="-apple-system"/>
              </a:rPr>
              <a:t>Histogram-based Gradient Boosting Classification Tree</a:t>
            </a:r>
          </a:p>
          <a:p>
            <a:pPr lvl="1"/>
            <a:r>
              <a:rPr lang="en-US" b="0" i="0" dirty="0">
                <a:solidFill>
                  <a:srgbClr val="212529"/>
                </a:solidFill>
                <a:effectLst/>
                <a:highlight>
                  <a:srgbClr val="FFFFFF"/>
                </a:highlight>
                <a:latin typeface="-apple-system"/>
              </a:rPr>
              <a:t>Multi-layer Perceptron Classifier</a:t>
            </a:r>
          </a:p>
          <a:p>
            <a:pPr lvl="1"/>
            <a:r>
              <a:rPr lang="en-US" dirty="0">
                <a:solidFill>
                  <a:srgbClr val="212529"/>
                </a:solidFill>
                <a:highlight>
                  <a:srgbClr val="FFFFFF"/>
                </a:highlight>
                <a:latin typeface="-apple-system"/>
              </a:rPr>
              <a:t>R</a:t>
            </a:r>
            <a:r>
              <a:rPr lang="en-US" b="0" i="0" dirty="0">
                <a:solidFill>
                  <a:srgbClr val="212529"/>
                </a:solidFill>
                <a:effectLst/>
                <a:highlight>
                  <a:srgbClr val="FFFFFF"/>
                </a:highlight>
                <a:latin typeface="-apple-system"/>
              </a:rPr>
              <a:t>andom </a:t>
            </a:r>
            <a:r>
              <a:rPr lang="en-US" dirty="0">
                <a:solidFill>
                  <a:srgbClr val="212529"/>
                </a:solidFill>
                <a:highlight>
                  <a:srgbClr val="FFFFFF"/>
                </a:highlight>
                <a:latin typeface="-apple-system"/>
              </a:rPr>
              <a:t>F</a:t>
            </a:r>
            <a:r>
              <a:rPr lang="en-US" b="0" i="0" dirty="0">
                <a:solidFill>
                  <a:srgbClr val="212529"/>
                </a:solidFill>
                <a:effectLst/>
                <a:highlight>
                  <a:srgbClr val="FFFFFF"/>
                </a:highlight>
                <a:latin typeface="-apple-system"/>
              </a:rPr>
              <a:t>orest Classifier</a:t>
            </a:r>
          </a:p>
          <a:p>
            <a:r>
              <a:rPr lang="en-US" dirty="0"/>
              <a:t>Best classifier: Random Forest</a:t>
            </a:r>
          </a:p>
          <a:p>
            <a:pPr lvl="1"/>
            <a:r>
              <a:rPr lang="en-US" dirty="0"/>
              <a:t>Training Accuracy: 99.4%</a:t>
            </a:r>
          </a:p>
          <a:p>
            <a:pPr lvl="1"/>
            <a:r>
              <a:rPr lang="en-US" dirty="0"/>
              <a:t>Test Accuracy: 78.5%</a:t>
            </a:r>
            <a:br>
              <a:rPr lang="en-US" dirty="0"/>
            </a:br>
            <a:endParaRPr lang="en-US" dirty="0"/>
          </a:p>
          <a:p>
            <a:pPr lvl="1"/>
            <a:endParaRPr lang="en-US" dirty="0"/>
          </a:p>
        </p:txBody>
      </p:sp>
    </p:spTree>
    <p:extLst>
      <p:ext uri="{BB962C8B-B14F-4D97-AF65-F5344CB8AC3E}">
        <p14:creationId xmlns:p14="http://schemas.microsoft.com/office/powerpoint/2010/main" val="1419745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3E1A3-4028-D880-E4C4-F261466B1B3B}"/>
              </a:ext>
            </a:extLst>
          </p:cNvPr>
          <p:cNvSpPr>
            <a:spLocks noGrp="1"/>
          </p:cNvSpPr>
          <p:nvPr>
            <p:ph type="title"/>
          </p:nvPr>
        </p:nvSpPr>
        <p:spPr/>
        <p:txBody>
          <a:bodyPr/>
          <a:lstStyle/>
          <a:p>
            <a:r>
              <a:rPr lang="en-US" dirty="0"/>
              <a:t>Classifier Continued</a:t>
            </a:r>
          </a:p>
        </p:txBody>
      </p:sp>
      <p:sp>
        <p:nvSpPr>
          <p:cNvPr id="3" name="Content Placeholder 2">
            <a:extLst>
              <a:ext uri="{FF2B5EF4-FFF2-40B4-BE49-F238E27FC236}">
                <a16:creationId xmlns:a16="http://schemas.microsoft.com/office/drawing/2014/main" id="{F78F385E-1F26-0EB8-B2A9-A35285BDDBE3}"/>
              </a:ext>
            </a:extLst>
          </p:cNvPr>
          <p:cNvSpPr>
            <a:spLocks noGrp="1"/>
          </p:cNvSpPr>
          <p:nvPr>
            <p:ph idx="1"/>
          </p:nvPr>
        </p:nvSpPr>
        <p:spPr/>
        <p:txBody>
          <a:bodyPr/>
          <a:lstStyle/>
          <a:p>
            <a:r>
              <a:rPr lang="en-US" dirty="0"/>
              <a:t>Confusion Matrix – Test Data:</a:t>
            </a:r>
          </a:p>
          <a:p>
            <a:endParaRPr lang="en-US" dirty="0"/>
          </a:p>
          <a:p>
            <a:endParaRPr lang="en-US" dirty="0"/>
          </a:p>
          <a:p>
            <a:endParaRPr lang="en-US" dirty="0"/>
          </a:p>
          <a:p>
            <a:endParaRPr lang="en-US" dirty="0"/>
          </a:p>
          <a:p>
            <a:r>
              <a:rPr lang="en-US" dirty="0"/>
              <a:t>Accuracy Analysis:</a:t>
            </a:r>
          </a:p>
          <a:p>
            <a:endParaRPr lang="en-US" dirty="0"/>
          </a:p>
        </p:txBody>
      </p:sp>
      <p:graphicFrame>
        <p:nvGraphicFramePr>
          <p:cNvPr id="7" name="Table 6">
            <a:extLst>
              <a:ext uri="{FF2B5EF4-FFF2-40B4-BE49-F238E27FC236}">
                <a16:creationId xmlns:a16="http://schemas.microsoft.com/office/drawing/2014/main" id="{DC7CCB03-1754-4163-977D-CCAB4D471400}"/>
              </a:ext>
            </a:extLst>
          </p:cNvPr>
          <p:cNvGraphicFramePr>
            <a:graphicFrameLocks noGrp="1"/>
          </p:cNvGraphicFramePr>
          <p:nvPr>
            <p:extLst>
              <p:ext uri="{D42A27DB-BD31-4B8C-83A1-F6EECF244321}">
                <p14:modId xmlns:p14="http://schemas.microsoft.com/office/powerpoint/2010/main" val="1478858708"/>
              </p:ext>
            </p:extLst>
          </p:nvPr>
        </p:nvGraphicFramePr>
        <p:xfrm>
          <a:off x="5660425" y="1526567"/>
          <a:ext cx="4953000" cy="1219200"/>
        </p:xfrm>
        <a:graphic>
          <a:graphicData uri="http://schemas.openxmlformats.org/drawingml/2006/table">
            <a:tbl>
              <a:tblPr>
                <a:tableStyleId>{5C22544A-7EE6-4342-B048-85BDC9FD1C3A}</a:tableStyleId>
              </a:tblPr>
              <a:tblGrid>
                <a:gridCol w="825500">
                  <a:extLst>
                    <a:ext uri="{9D8B030D-6E8A-4147-A177-3AD203B41FA5}">
                      <a16:colId xmlns:a16="http://schemas.microsoft.com/office/drawing/2014/main" val="4035677109"/>
                    </a:ext>
                  </a:extLst>
                </a:gridCol>
                <a:gridCol w="825500">
                  <a:extLst>
                    <a:ext uri="{9D8B030D-6E8A-4147-A177-3AD203B41FA5}">
                      <a16:colId xmlns:a16="http://schemas.microsoft.com/office/drawing/2014/main" val="31581120"/>
                    </a:ext>
                  </a:extLst>
                </a:gridCol>
                <a:gridCol w="825500">
                  <a:extLst>
                    <a:ext uri="{9D8B030D-6E8A-4147-A177-3AD203B41FA5}">
                      <a16:colId xmlns:a16="http://schemas.microsoft.com/office/drawing/2014/main" val="2478890474"/>
                    </a:ext>
                  </a:extLst>
                </a:gridCol>
                <a:gridCol w="825500">
                  <a:extLst>
                    <a:ext uri="{9D8B030D-6E8A-4147-A177-3AD203B41FA5}">
                      <a16:colId xmlns:a16="http://schemas.microsoft.com/office/drawing/2014/main" val="343061142"/>
                    </a:ext>
                  </a:extLst>
                </a:gridCol>
                <a:gridCol w="825500">
                  <a:extLst>
                    <a:ext uri="{9D8B030D-6E8A-4147-A177-3AD203B41FA5}">
                      <a16:colId xmlns:a16="http://schemas.microsoft.com/office/drawing/2014/main" val="3095910823"/>
                    </a:ext>
                  </a:extLst>
                </a:gridCol>
                <a:gridCol w="825500">
                  <a:extLst>
                    <a:ext uri="{9D8B030D-6E8A-4147-A177-3AD203B41FA5}">
                      <a16:colId xmlns:a16="http://schemas.microsoft.com/office/drawing/2014/main" val="604521122"/>
                    </a:ext>
                  </a:extLst>
                </a:gridCol>
              </a:tblGrid>
              <a:tr h="203200">
                <a:tc>
                  <a:txBody>
                    <a:bodyPr/>
                    <a:lstStyle/>
                    <a:p>
                      <a:pPr algn="l" fontAlgn="b"/>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200" b="0" i="0" u="none" strike="noStrike">
                        <a:solidFill>
                          <a:srgbClr val="000000"/>
                        </a:solidFill>
                        <a:effectLst/>
                        <a:latin typeface="Calibri" panose="020F0502020204030204" pitchFamily="34" charset="0"/>
                      </a:endParaRPr>
                    </a:p>
                  </a:txBody>
                  <a:tcPr marL="9525" marR="9525" marT="9525" marB="0" anchor="b"/>
                </a:tc>
                <a:tc gridSpan="2">
                  <a:txBody>
                    <a:bodyPr/>
                    <a:lstStyle/>
                    <a:p>
                      <a:pPr algn="l" fontAlgn="b"/>
                      <a:r>
                        <a:rPr lang="en-US" sz="1200" u="none" strike="noStrike">
                          <a:effectLst/>
                        </a:rPr>
                        <a:t>Classifier output</a:t>
                      </a:r>
                      <a:endParaRPr lang="en-US" sz="12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a:txBody>
                    <a:bodyPr/>
                    <a:lstStyle/>
                    <a:p>
                      <a:pPr algn="l" fontAlgn="b"/>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24861852"/>
                  </a:ext>
                </a:extLst>
              </a:tr>
              <a:tr h="203200">
                <a:tc>
                  <a:txBody>
                    <a:bodyPr/>
                    <a:lstStyle/>
                    <a:p>
                      <a:pPr algn="l" fontAlgn="b"/>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200" u="none" strike="noStrike">
                          <a:effectLst/>
                        </a:rPr>
                        <a:t>Tier 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200" u="none" strike="noStrike">
                          <a:effectLst/>
                        </a:rPr>
                        <a:t>Tier 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200" u="none" strike="noStrike">
                          <a:effectLst/>
                        </a:rPr>
                        <a:t>Tier 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200" u="none" strike="noStrike">
                          <a:effectLst/>
                        </a:rPr>
                        <a:t>Tier 4</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42423614"/>
                  </a:ext>
                </a:extLst>
              </a:tr>
              <a:tr h="203200">
                <a:tc>
                  <a:txBody>
                    <a:bodyPr/>
                    <a:lstStyle/>
                    <a:p>
                      <a:pPr algn="l" fontAlgn="b"/>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200" u="none" strike="noStrike">
                          <a:effectLst/>
                        </a:rPr>
                        <a:t>Tier 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850577</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60622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3470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5956</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7378698"/>
                  </a:ext>
                </a:extLst>
              </a:tr>
              <a:tr h="203200">
                <a:tc>
                  <a:txBody>
                    <a:bodyPr/>
                    <a:lstStyle/>
                    <a:p>
                      <a:pPr algn="l" fontAlgn="b"/>
                      <a:r>
                        <a:rPr lang="en-US" sz="1200" u="none" strike="noStrike">
                          <a:effectLst/>
                        </a:rPr>
                        <a:t>Ground</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200" u="none" strike="noStrike">
                          <a:effectLst/>
                        </a:rPr>
                        <a:t>Tier 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98908</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172631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13970</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16749</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53227328"/>
                  </a:ext>
                </a:extLst>
              </a:tr>
              <a:tr h="203200">
                <a:tc>
                  <a:txBody>
                    <a:bodyPr/>
                    <a:lstStyle/>
                    <a:p>
                      <a:pPr algn="l" fontAlgn="b"/>
                      <a:r>
                        <a:rPr lang="en-US" sz="1200" u="none" strike="noStrike">
                          <a:effectLst/>
                        </a:rPr>
                        <a:t>Turth</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200" u="none" strike="noStrike">
                          <a:effectLst/>
                        </a:rPr>
                        <a:t>Tier 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17645</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37673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42808</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25324</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15906074"/>
                  </a:ext>
                </a:extLst>
              </a:tr>
              <a:tr h="203200">
                <a:tc>
                  <a:txBody>
                    <a:bodyPr/>
                    <a:lstStyle/>
                    <a:p>
                      <a:pPr algn="l" fontAlgn="b"/>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1200" u="none" strike="noStrike">
                          <a:effectLst/>
                        </a:rPr>
                        <a:t>Tier 4</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11057</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19371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11479</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dirty="0">
                          <a:effectLst/>
                        </a:rPr>
                        <a:t>109998</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952122754"/>
                  </a:ext>
                </a:extLst>
              </a:tr>
            </a:tbl>
          </a:graphicData>
        </a:graphic>
      </p:graphicFrame>
      <p:graphicFrame>
        <p:nvGraphicFramePr>
          <p:cNvPr id="8" name="Table 7">
            <a:extLst>
              <a:ext uri="{FF2B5EF4-FFF2-40B4-BE49-F238E27FC236}">
                <a16:creationId xmlns:a16="http://schemas.microsoft.com/office/drawing/2014/main" id="{7599F17E-3630-8A9D-544D-39B636A06FE7}"/>
              </a:ext>
            </a:extLst>
          </p:cNvPr>
          <p:cNvGraphicFramePr>
            <a:graphicFrameLocks noGrp="1"/>
          </p:cNvGraphicFramePr>
          <p:nvPr>
            <p:extLst>
              <p:ext uri="{D42A27DB-BD31-4B8C-83A1-F6EECF244321}">
                <p14:modId xmlns:p14="http://schemas.microsoft.com/office/powerpoint/2010/main" val="2722118011"/>
              </p:ext>
            </p:extLst>
          </p:nvPr>
        </p:nvGraphicFramePr>
        <p:xfrm>
          <a:off x="4193402" y="4038984"/>
          <a:ext cx="2146438" cy="1219200"/>
        </p:xfrm>
        <a:graphic>
          <a:graphicData uri="http://schemas.openxmlformats.org/drawingml/2006/table">
            <a:tbl>
              <a:tblPr>
                <a:tableStyleId>{5C22544A-7EE6-4342-B048-85BDC9FD1C3A}</a:tableStyleId>
              </a:tblPr>
              <a:tblGrid>
                <a:gridCol w="1073219">
                  <a:extLst>
                    <a:ext uri="{9D8B030D-6E8A-4147-A177-3AD203B41FA5}">
                      <a16:colId xmlns:a16="http://schemas.microsoft.com/office/drawing/2014/main" val="2990806209"/>
                    </a:ext>
                  </a:extLst>
                </a:gridCol>
                <a:gridCol w="1073219">
                  <a:extLst>
                    <a:ext uri="{9D8B030D-6E8A-4147-A177-3AD203B41FA5}">
                      <a16:colId xmlns:a16="http://schemas.microsoft.com/office/drawing/2014/main" val="1951281537"/>
                    </a:ext>
                  </a:extLst>
                </a:gridCol>
              </a:tblGrid>
              <a:tr h="203200">
                <a:tc gridSpan="2">
                  <a:txBody>
                    <a:bodyPr/>
                    <a:lstStyle/>
                    <a:p>
                      <a:pPr algn="l" fontAlgn="b"/>
                      <a:r>
                        <a:rPr lang="en-US" sz="1200" u="none" strike="noStrike">
                          <a:effectLst/>
                        </a:rPr>
                        <a:t>True Positive Rate</a:t>
                      </a:r>
                      <a:endParaRPr lang="en-US" sz="12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extLst>
                  <a:ext uri="{0D108BD9-81ED-4DB2-BD59-A6C34878D82A}">
                    <a16:rowId xmlns:a16="http://schemas.microsoft.com/office/drawing/2014/main" val="3902589337"/>
                  </a:ext>
                </a:extLst>
              </a:tr>
              <a:tr h="203200">
                <a:tc>
                  <a:txBody>
                    <a:bodyPr/>
                    <a:lstStyle/>
                    <a:p>
                      <a:pPr algn="l" fontAlgn="b"/>
                      <a:r>
                        <a:rPr lang="en-US" sz="1200" u="none" strike="noStrike">
                          <a:effectLst/>
                        </a:rPr>
                        <a:t>overall accuracy</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0.78493137</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93340687"/>
                  </a:ext>
                </a:extLst>
              </a:tr>
              <a:tr h="203200">
                <a:tc>
                  <a:txBody>
                    <a:bodyPr/>
                    <a:lstStyle/>
                    <a:p>
                      <a:pPr algn="l" fontAlgn="b"/>
                      <a:r>
                        <a:rPr lang="en-US" sz="1200" u="none" strike="noStrike">
                          <a:effectLst/>
                        </a:rPr>
                        <a:t>Tier 1 acc</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0.92391256</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56849682"/>
                  </a:ext>
                </a:extLst>
              </a:tr>
              <a:tr h="203200">
                <a:tc>
                  <a:txBody>
                    <a:bodyPr/>
                    <a:lstStyle/>
                    <a:p>
                      <a:pPr algn="l" fontAlgn="b"/>
                      <a:r>
                        <a:rPr lang="en-US" sz="1200" u="none" strike="noStrike">
                          <a:effectLst/>
                        </a:rPr>
                        <a:t>Tier 2 acc</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0.5711379</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18981585"/>
                  </a:ext>
                </a:extLst>
              </a:tr>
              <a:tr h="203200">
                <a:tc>
                  <a:txBody>
                    <a:bodyPr/>
                    <a:lstStyle/>
                    <a:p>
                      <a:pPr algn="l" fontAlgn="b"/>
                      <a:r>
                        <a:rPr lang="en-US" sz="1200" u="none" strike="noStrike">
                          <a:effectLst/>
                        </a:rPr>
                        <a:t>Tier 3 acc</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0.34676387</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756331906"/>
                  </a:ext>
                </a:extLst>
              </a:tr>
              <a:tr h="203200">
                <a:tc>
                  <a:txBody>
                    <a:bodyPr/>
                    <a:lstStyle/>
                    <a:p>
                      <a:pPr algn="l" fontAlgn="b"/>
                      <a:r>
                        <a:rPr lang="en-US" sz="1200" u="none" strike="noStrike">
                          <a:effectLst/>
                        </a:rPr>
                        <a:t>Tier 4 acc</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dirty="0">
                          <a:effectLst/>
                        </a:rPr>
                        <a:t>0.72412363</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97853681"/>
                  </a:ext>
                </a:extLst>
              </a:tr>
            </a:tbl>
          </a:graphicData>
        </a:graphic>
      </p:graphicFrame>
      <p:graphicFrame>
        <p:nvGraphicFramePr>
          <p:cNvPr id="9" name="Table 8">
            <a:extLst>
              <a:ext uri="{FF2B5EF4-FFF2-40B4-BE49-F238E27FC236}">
                <a16:creationId xmlns:a16="http://schemas.microsoft.com/office/drawing/2014/main" id="{D41F02B1-15AA-1655-A362-A4BDD9987882}"/>
              </a:ext>
            </a:extLst>
          </p:cNvPr>
          <p:cNvGraphicFramePr>
            <a:graphicFrameLocks noGrp="1"/>
          </p:cNvGraphicFramePr>
          <p:nvPr>
            <p:extLst>
              <p:ext uri="{D42A27DB-BD31-4B8C-83A1-F6EECF244321}">
                <p14:modId xmlns:p14="http://schemas.microsoft.com/office/powerpoint/2010/main" val="3448480945"/>
              </p:ext>
            </p:extLst>
          </p:nvPr>
        </p:nvGraphicFramePr>
        <p:xfrm>
          <a:off x="7212111" y="4038984"/>
          <a:ext cx="1849628" cy="1219200"/>
        </p:xfrm>
        <a:graphic>
          <a:graphicData uri="http://schemas.openxmlformats.org/drawingml/2006/table">
            <a:tbl>
              <a:tblPr>
                <a:tableStyleId>{5C22544A-7EE6-4342-B048-85BDC9FD1C3A}</a:tableStyleId>
              </a:tblPr>
              <a:tblGrid>
                <a:gridCol w="924814">
                  <a:extLst>
                    <a:ext uri="{9D8B030D-6E8A-4147-A177-3AD203B41FA5}">
                      <a16:colId xmlns:a16="http://schemas.microsoft.com/office/drawing/2014/main" val="505612894"/>
                    </a:ext>
                  </a:extLst>
                </a:gridCol>
                <a:gridCol w="924814">
                  <a:extLst>
                    <a:ext uri="{9D8B030D-6E8A-4147-A177-3AD203B41FA5}">
                      <a16:colId xmlns:a16="http://schemas.microsoft.com/office/drawing/2014/main" val="1694248282"/>
                    </a:ext>
                  </a:extLst>
                </a:gridCol>
              </a:tblGrid>
              <a:tr h="243840">
                <a:tc gridSpan="2">
                  <a:txBody>
                    <a:bodyPr/>
                    <a:lstStyle/>
                    <a:p>
                      <a:pPr algn="l" fontAlgn="b"/>
                      <a:r>
                        <a:rPr lang="en-US" sz="1200" u="none" strike="noStrike" dirty="0">
                          <a:effectLst/>
                        </a:rPr>
                        <a:t>False positive rate</a:t>
                      </a:r>
                      <a:endParaRPr lang="en-US" sz="12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extLst>
                  <a:ext uri="{0D108BD9-81ED-4DB2-BD59-A6C34878D82A}">
                    <a16:rowId xmlns:a16="http://schemas.microsoft.com/office/drawing/2014/main" val="1724639045"/>
                  </a:ext>
                </a:extLst>
              </a:tr>
              <a:tr h="243840">
                <a:tc>
                  <a:txBody>
                    <a:bodyPr/>
                    <a:lstStyle/>
                    <a:p>
                      <a:pPr algn="l" fontAlgn="b"/>
                      <a:r>
                        <a:rPr lang="en-US" sz="1200" u="none" strike="noStrike">
                          <a:effectLst/>
                        </a:rPr>
                        <a:t>Tier 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0.28167056</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93160819"/>
                  </a:ext>
                </a:extLst>
              </a:tr>
              <a:tr h="243840">
                <a:tc>
                  <a:txBody>
                    <a:bodyPr/>
                    <a:lstStyle/>
                    <a:p>
                      <a:pPr algn="l" fontAlgn="b"/>
                      <a:r>
                        <a:rPr lang="en-US" sz="1200" u="none" strike="noStrike">
                          <a:effectLst/>
                        </a:rPr>
                        <a:t>Tier 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0.10496062</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43546216"/>
                  </a:ext>
                </a:extLst>
              </a:tr>
              <a:tr h="243840">
                <a:tc>
                  <a:txBody>
                    <a:bodyPr/>
                    <a:lstStyle/>
                    <a:p>
                      <a:pPr algn="l" fontAlgn="b"/>
                      <a:r>
                        <a:rPr lang="en-US" sz="1200" u="none" strike="noStrike">
                          <a:effectLst/>
                        </a:rPr>
                        <a:t>Tier 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0.02488459</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93429457"/>
                  </a:ext>
                </a:extLst>
              </a:tr>
              <a:tr h="243840">
                <a:tc>
                  <a:txBody>
                    <a:bodyPr/>
                    <a:lstStyle/>
                    <a:p>
                      <a:pPr algn="l" fontAlgn="b"/>
                      <a:r>
                        <a:rPr lang="en-US" sz="1200" u="none" strike="noStrike">
                          <a:effectLst/>
                        </a:rPr>
                        <a:t>Tier 4</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dirty="0">
                          <a:effectLst/>
                        </a:rPr>
                        <a:t>0.04311226</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08501612"/>
                  </a:ext>
                </a:extLst>
              </a:tr>
            </a:tbl>
          </a:graphicData>
        </a:graphic>
      </p:graphicFrame>
    </p:spTree>
    <p:extLst>
      <p:ext uri="{BB962C8B-B14F-4D97-AF65-F5344CB8AC3E}">
        <p14:creationId xmlns:p14="http://schemas.microsoft.com/office/powerpoint/2010/main" val="260394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DD203-4900-91EC-CEE4-CE23CC65F195}"/>
              </a:ext>
            </a:extLst>
          </p:cNvPr>
          <p:cNvSpPr>
            <a:spLocks noGrp="1"/>
          </p:cNvSpPr>
          <p:nvPr>
            <p:ph type="title"/>
          </p:nvPr>
        </p:nvSpPr>
        <p:spPr/>
        <p:txBody>
          <a:bodyPr/>
          <a:lstStyle/>
          <a:p>
            <a:r>
              <a:rPr lang="en-US" dirty="0"/>
              <a:t>Classifier Continued</a:t>
            </a:r>
          </a:p>
        </p:txBody>
      </p:sp>
      <p:sp>
        <p:nvSpPr>
          <p:cNvPr id="3" name="Content Placeholder 2">
            <a:extLst>
              <a:ext uri="{FF2B5EF4-FFF2-40B4-BE49-F238E27FC236}">
                <a16:creationId xmlns:a16="http://schemas.microsoft.com/office/drawing/2014/main" id="{BA1F9343-DEBF-1D71-8AD8-7AEAF146F028}"/>
              </a:ext>
            </a:extLst>
          </p:cNvPr>
          <p:cNvSpPr>
            <a:spLocks noGrp="1"/>
          </p:cNvSpPr>
          <p:nvPr>
            <p:ph idx="1"/>
          </p:nvPr>
        </p:nvSpPr>
        <p:spPr/>
        <p:txBody>
          <a:bodyPr/>
          <a:lstStyle/>
          <a:p>
            <a:r>
              <a:rPr lang="en-US" dirty="0"/>
              <a:t>Predictive Values:</a:t>
            </a:r>
          </a:p>
          <a:p>
            <a:endParaRPr lang="en-US" dirty="0"/>
          </a:p>
          <a:p>
            <a:endParaRPr lang="en-US" dirty="0"/>
          </a:p>
          <a:p>
            <a:endParaRPr lang="en-US" dirty="0"/>
          </a:p>
          <a:p>
            <a:endParaRPr lang="en-US" dirty="0"/>
          </a:p>
          <a:p>
            <a:endParaRPr lang="en-US" dirty="0"/>
          </a:p>
          <a:p>
            <a:r>
              <a:rPr lang="en-US" dirty="0"/>
              <a:t>To account for uncertainty, whenever my classifier predicted a Tier, I’d generate a random number and depending on where it fell in the above probability ranges, that would be the final predicted Tier</a:t>
            </a:r>
          </a:p>
          <a:p>
            <a:endParaRPr lang="en-US" dirty="0"/>
          </a:p>
          <a:p>
            <a:pPr marL="0" indent="0">
              <a:buNone/>
            </a:pPr>
            <a:endParaRPr lang="en-US" dirty="0"/>
          </a:p>
        </p:txBody>
      </p:sp>
      <p:graphicFrame>
        <p:nvGraphicFramePr>
          <p:cNvPr id="8" name="Table 7">
            <a:extLst>
              <a:ext uri="{FF2B5EF4-FFF2-40B4-BE49-F238E27FC236}">
                <a16:creationId xmlns:a16="http://schemas.microsoft.com/office/drawing/2014/main" id="{DB379C3E-478C-B8F5-0C7C-D2E3D15AEA44}"/>
              </a:ext>
            </a:extLst>
          </p:cNvPr>
          <p:cNvGraphicFramePr>
            <a:graphicFrameLocks noGrp="1"/>
          </p:cNvGraphicFramePr>
          <p:nvPr>
            <p:extLst>
              <p:ext uri="{D42A27DB-BD31-4B8C-83A1-F6EECF244321}">
                <p14:modId xmlns:p14="http://schemas.microsoft.com/office/powerpoint/2010/main" val="1055292359"/>
              </p:ext>
            </p:extLst>
          </p:nvPr>
        </p:nvGraphicFramePr>
        <p:xfrm>
          <a:off x="3978874" y="1402874"/>
          <a:ext cx="2965622" cy="1501140"/>
        </p:xfrm>
        <a:graphic>
          <a:graphicData uri="http://schemas.openxmlformats.org/drawingml/2006/table">
            <a:tbl>
              <a:tblPr>
                <a:tableStyleId>{5C22544A-7EE6-4342-B048-85BDC9FD1C3A}</a:tableStyleId>
              </a:tblPr>
              <a:tblGrid>
                <a:gridCol w="1482811">
                  <a:extLst>
                    <a:ext uri="{9D8B030D-6E8A-4147-A177-3AD203B41FA5}">
                      <a16:colId xmlns:a16="http://schemas.microsoft.com/office/drawing/2014/main" val="3834617382"/>
                    </a:ext>
                  </a:extLst>
                </a:gridCol>
                <a:gridCol w="1482811">
                  <a:extLst>
                    <a:ext uri="{9D8B030D-6E8A-4147-A177-3AD203B41FA5}">
                      <a16:colId xmlns:a16="http://schemas.microsoft.com/office/drawing/2014/main" val="889820857"/>
                    </a:ext>
                  </a:extLst>
                </a:gridCol>
              </a:tblGrid>
              <a:tr h="331391">
                <a:tc>
                  <a:txBody>
                    <a:bodyPr/>
                    <a:lstStyle/>
                    <a:p>
                      <a:pPr algn="l" fontAlgn="b"/>
                      <a:r>
                        <a:rPr lang="en-US" sz="1200" u="none" strike="noStrike">
                          <a:effectLst/>
                        </a:rPr>
                        <a:t>examples labeled Tier 1 are actually Tier 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0.86954437</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36615629"/>
                  </a:ext>
                </a:extLst>
              </a:tr>
              <a:tr h="331391">
                <a:tc>
                  <a:txBody>
                    <a:bodyPr/>
                    <a:lstStyle/>
                    <a:p>
                      <a:pPr algn="l" fontAlgn="b"/>
                      <a:r>
                        <a:rPr lang="en-US" sz="1200" u="none" strike="noStrike">
                          <a:effectLst/>
                        </a:rPr>
                        <a:t>examples labeled Tier 1 are actually Tier 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0.10111359</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54373940"/>
                  </a:ext>
                </a:extLst>
              </a:tr>
              <a:tr h="331391">
                <a:tc>
                  <a:txBody>
                    <a:bodyPr/>
                    <a:lstStyle/>
                    <a:p>
                      <a:pPr algn="l" fontAlgn="b"/>
                      <a:r>
                        <a:rPr lang="en-US" sz="1200" u="none" strike="noStrike">
                          <a:effectLst/>
                        </a:rPr>
                        <a:t>examples labeled Tier 1 are actually Tier 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dirty="0">
                          <a:effectLst/>
                        </a:rPr>
                        <a:t>0.01803847</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59375478"/>
                  </a:ext>
                </a:extLst>
              </a:tr>
              <a:tr h="331391">
                <a:tc>
                  <a:txBody>
                    <a:bodyPr/>
                    <a:lstStyle/>
                    <a:p>
                      <a:pPr algn="l" fontAlgn="b"/>
                      <a:r>
                        <a:rPr lang="en-US" sz="1200" u="none" strike="noStrike">
                          <a:effectLst/>
                        </a:rPr>
                        <a:t>examples labeled Tier 1 are actually Tier 4</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dirty="0">
                          <a:effectLst/>
                        </a:rPr>
                        <a:t>0.01130356</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01092681"/>
                  </a:ext>
                </a:extLst>
              </a:tr>
            </a:tbl>
          </a:graphicData>
        </a:graphic>
      </p:graphicFrame>
      <p:graphicFrame>
        <p:nvGraphicFramePr>
          <p:cNvPr id="9" name="Table 8">
            <a:extLst>
              <a:ext uri="{FF2B5EF4-FFF2-40B4-BE49-F238E27FC236}">
                <a16:creationId xmlns:a16="http://schemas.microsoft.com/office/drawing/2014/main" id="{CD5CE957-1BF2-1D5D-140F-33DB0D74615C}"/>
              </a:ext>
            </a:extLst>
          </p:cNvPr>
          <p:cNvGraphicFramePr>
            <a:graphicFrameLocks noGrp="1"/>
          </p:cNvGraphicFramePr>
          <p:nvPr>
            <p:extLst>
              <p:ext uri="{D42A27DB-BD31-4B8C-83A1-F6EECF244321}">
                <p14:modId xmlns:p14="http://schemas.microsoft.com/office/powerpoint/2010/main" val="2218901858"/>
              </p:ext>
            </p:extLst>
          </p:nvPr>
        </p:nvGraphicFramePr>
        <p:xfrm>
          <a:off x="3978874" y="3203417"/>
          <a:ext cx="2965622" cy="1501140"/>
        </p:xfrm>
        <a:graphic>
          <a:graphicData uri="http://schemas.openxmlformats.org/drawingml/2006/table">
            <a:tbl>
              <a:tblPr>
                <a:tableStyleId>{5C22544A-7EE6-4342-B048-85BDC9FD1C3A}</a:tableStyleId>
              </a:tblPr>
              <a:tblGrid>
                <a:gridCol w="1482811">
                  <a:extLst>
                    <a:ext uri="{9D8B030D-6E8A-4147-A177-3AD203B41FA5}">
                      <a16:colId xmlns:a16="http://schemas.microsoft.com/office/drawing/2014/main" val="3445985050"/>
                    </a:ext>
                  </a:extLst>
                </a:gridCol>
                <a:gridCol w="1482811">
                  <a:extLst>
                    <a:ext uri="{9D8B030D-6E8A-4147-A177-3AD203B41FA5}">
                      <a16:colId xmlns:a16="http://schemas.microsoft.com/office/drawing/2014/main" val="4216851750"/>
                    </a:ext>
                  </a:extLst>
                </a:gridCol>
              </a:tblGrid>
              <a:tr h="351290">
                <a:tc>
                  <a:txBody>
                    <a:bodyPr/>
                    <a:lstStyle/>
                    <a:p>
                      <a:pPr algn="l" fontAlgn="b"/>
                      <a:r>
                        <a:rPr lang="en-US" sz="1200" u="none" strike="noStrike">
                          <a:effectLst/>
                        </a:rPr>
                        <a:t>examples labeled Tier 2 are actually Tier 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0.20882751</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21788913"/>
                  </a:ext>
                </a:extLst>
              </a:tr>
              <a:tr h="351290">
                <a:tc>
                  <a:txBody>
                    <a:bodyPr/>
                    <a:lstStyle/>
                    <a:p>
                      <a:pPr algn="l" fontAlgn="b"/>
                      <a:r>
                        <a:rPr lang="en-US" sz="1200" u="none" strike="noStrike">
                          <a:effectLst/>
                        </a:rPr>
                        <a:t>examples labeled Tier 2 are actually Tier 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0.59467029</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249137850"/>
                  </a:ext>
                </a:extLst>
              </a:tr>
              <a:tr h="351290">
                <a:tc>
                  <a:txBody>
                    <a:bodyPr/>
                    <a:lstStyle/>
                    <a:p>
                      <a:pPr algn="l" fontAlgn="b"/>
                      <a:r>
                        <a:rPr lang="en-US" sz="1200" u="none" strike="noStrike">
                          <a:effectLst/>
                        </a:rPr>
                        <a:t>examples labeled Tier 2 are actually Tier 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dirty="0">
                          <a:effectLst/>
                        </a:rPr>
                        <a:t>0.12977399</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82794074"/>
                  </a:ext>
                </a:extLst>
              </a:tr>
              <a:tr h="351290">
                <a:tc>
                  <a:txBody>
                    <a:bodyPr/>
                    <a:lstStyle/>
                    <a:p>
                      <a:pPr algn="l" fontAlgn="b"/>
                      <a:r>
                        <a:rPr lang="en-US" sz="1200" u="none" strike="noStrike">
                          <a:effectLst/>
                        </a:rPr>
                        <a:t>examples labeled Tier 2 are actually Tier 4</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dirty="0">
                          <a:effectLst/>
                        </a:rPr>
                        <a:t>0.06672821</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06611357"/>
                  </a:ext>
                </a:extLst>
              </a:tr>
            </a:tbl>
          </a:graphicData>
        </a:graphic>
      </p:graphicFrame>
      <p:graphicFrame>
        <p:nvGraphicFramePr>
          <p:cNvPr id="10" name="Table 9">
            <a:extLst>
              <a:ext uri="{FF2B5EF4-FFF2-40B4-BE49-F238E27FC236}">
                <a16:creationId xmlns:a16="http://schemas.microsoft.com/office/drawing/2014/main" id="{83197709-1DFD-7350-1A58-4E47310B339E}"/>
              </a:ext>
            </a:extLst>
          </p:cNvPr>
          <p:cNvGraphicFramePr>
            <a:graphicFrameLocks noGrp="1"/>
          </p:cNvGraphicFramePr>
          <p:nvPr>
            <p:extLst>
              <p:ext uri="{D42A27DB-BD31-4B8C-83A1-F6EECF244321}">
                <p14:modId xmlns:p14="http://schemas.microsoft.com/office/powerpoint/2010/main" val="4202149761"/>
              </p:ext>
            </p:extLst>
          </p:nvPr>
        </p:nvGraphicFramePr>
        <p:xfrm>
          <a:off x="8093676" y="1402874"/>
          <a:ext cx="2965622" cy="1501140"/>
        </p:xfrm>
        <a:graphic>
          <a:graphicData uri="http://schemas.openxmlformats.org/drawingml/2006/table">
            <a:tbl>
              <a:tblPr>
                <a:tableStyleId>{5C22544A-7EE6-4342-B048-85BDC9FD1C3A}</a:tableStyleId>
              </a:tblPr>
              <a:tblGrid>
                <a:gridCol w="1482811">
                  <a:extLst>
                    <a:ext uri="{9D8B030D-6E8A-4147-A177-3AD203B41FA5}">
                      <a16:colId xmlns:a16="http://schemas.microsoft.com/office/drawing/2014/main" val="2709854878"/>
                    </a:ext>
                  </a:extLst>
                </a:gridCol>
                <a:gridCol w="1482811">
                  <a:extLst>
                    <a:ext uri="{9D8B030D-6E8A-4147-A177-3AD203B41FA5}">
                      <a16:colId xmlns:a16="http://schemas.microsoft.com/office/drawing/2014/main" val="2015640048"/>
                    </a:ext>
                  </a:extLst>
                </a:gridCol>
              </a:tblGrid>
              <a:tr h="375285">
                <a:tc>
                  <a:txBody>
                    <a:bodyPr/>
                    <a:lstStyle/>
                    <a:p>
                      <a:pPr algn="l" fontAlgn="b"/>
                      <a:r>
                        <a:rPr lang="en-US" sz="1200" u="none" strike="noStrike">
                          <a:effectLst/>
                        </a:rPr>
                        <a:t>examples labeled Tier 3 are actually Tier 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0.04837788</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49254031"/>
                  </a:ext>
                </a:extLst>
              </a:tr>
              <a:tr h="375285">
                <a:tc>
                  <a:txBody>
                    <a:bodyPr/>
                    <a:lstStyle/>
                    <a:p>
                      <a:pPr algn="l" fontAlgn="b"/>
                      <a:r>
                        <a:rPr lang="en-US" sz="1200" u="none" strike="noStrike">
                          <a:effectLst/>
                        </a:rPr>
                        <a:t>examples labeled Tier 3 are actually Tier 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0.19476627</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30387834"/>
                  </a:ext>
                </a:extLst>
              </a:tr>
              <a:tr h="375285">
                <a:tc>
                  <a:txBody>
                    <a:bodyPr/>
                    <a:lstStyle/>
                    <a:p>
                      <a:pPr algn="l" fontAlgn="b"/>
                      <a:r>
                        <a:rPr lang="en-US" sz="1200" u="none" strike="noStrike">
                          <a:effectLst/>
                        </a:rPr>
                        <a:t>examples labeled Tier 3 are actually Tier 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0.59681849</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26394624"/>
                  </a:ext>
                </a:extLst>
              </a:tr>
              <a:tr h="375285">
                <a:tc>
                  <a:txBody>
                    <a:bodyPr/>
                    <a:lstStyle/>
                    <a:p>
                      <a:pPr algn="l" fontAlgn="b"/>
                      <a:r>
                        <a:rPr lang="en-US" sz="1200" u="none" strike="noStrike">
                          <a:effectLst/>
                        </a:rPr>
                        <a:t>examples labeled Tier 3 are actually Tier 4</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dirty="0">
                          <a:effectLst/>
                        </a:rPr>
                        <a:t>0.16003736</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2094801"/>
                  </a:ext>
                </a:extLst>
              </a:tr>
            </a:tbl>
          </a:graphicData>
        </a:graphic>
      </p:graphicFrame>
      <p:graphicFrame>
        <p:nvGraphicFramePr>
          <p:cNvPr id="11" name="Table 10">
            <a:extLst>
              <a:ext uri="{FF2B5EF4-FFF2-40B4-BE49-F238E27FC236}">
                <a16:creationId xmlns:a16="http://schemas.microsoft.com/office/drawing/2014/main" id="{5A0CC0E8-5B7C-F669-F86E-9CAC5ED599B3}"/>
              </a:ext>
            </a:extLst>
          </p:cNvPr>
          <p:cNvGraphicFramePr>
            <a:graphicFrameLocks noGrp="1"/>
          </p:cNvGraphicFramePr>
          <p:nvPr>
            <p:extLst>
              <p:ext uri="{D42A27DB-BD31-4B8C-83A1-F6EECF244321}">
                <p14:modId xmlns:p14="http://schemas.microsoft.com/office/powerpoint/2010/main" val="1663304727"/>
              </p:ext>
            </p:extLst>
          </p:nvPr>
        </p:nvGraphicFramePr>
        <p:xfrm>
          <a:off x="8093676" y="3203417"/>
          <a:ext cx="2965622" cy="1501140"/>
        </p:xfrm>
        <a:graphic>
          <a:graphicData uri="http://schemas.openxmlformats.org/drawingml/2006/table">
            <a:tbl>
              <a:tblPr>
                <a:tableStyleId>{5C22544A-7EE6-4342-B048-85BDC9FD1C3A}</a:tableStyleId>
              </a:tblPr>
              <a:tblGrid>
                <a:gridCol w="1482811">
                  <a:extLst>
                    <a:ext uri="{9D8B030D-6E8A-4147-A177-3AD203B41FA5}">
                      <a16:colId xmlns:a16="http://schemas.microsoft.com/office/drawing/2014/main" val="639885464"/>
                    </a:ext>
                  </a:extLst>
                </a:gridCol>
                <a:gridCol w="1482811">
                  <a:extLst>
                    <a:ext uri="{9D8B030D-6E8A-4147-A177-3AD203B41FA5}">
                      <a16:colId xmlns:a16="http://schemas.microsoft.com/office/drawing/2014/main" val="3126347982"/>
                    </a:ext>
                  </a:extLst>
                </a:gridCol>
              </a:tblGrid>
              <a:tr h="375285">
                <a:tc>
                  <a:txBody>
                    <a:bodyPr/>
                    <a:lstStyle/>
                    <a:p>
                      <a:pPr algn="l" fontAlgn="b"/>
                      <a:r>
                        <a:rPr lang="en-US" sz="1200" u="none" strike="noStrike">
                          <a:effectLst/>
                        </a:rPr>
                        <a:t>examples labeled Tier 4 are actually Tier 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0.03768976</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70019798"/>
                  </a:ext>
                </a:extLst>
              </a:tr>
              <a:tr h="375285">
                <a:tc>
                  <a:txBody>
                    <a:bodyPr/>
                    <a:lstStyle/>
                    <a:p>
                      <a:pPr algn="l" fontAlgn="b"/>
                      <a:r>
                        <a:rPr lang="en-US" sz="1200" u="none" strike="noStrike">
                          <a:effectLst/>
                        </a:rPr>
                        <a:t>examples labeled Tier 4 are actually Tier 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0.10598822</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18810024"/>
                  </a:ext>
                </a:extLst>
              </a:tr>
              <a:tr h="375285">
                <a:tc>
                  <a:txBody>
                    <a:bodyPr/>
                    <a:lstStyle/>
                    <a:p>
                      <a:pPr algn="l" fontAlgn="b"/>
                      <a:r>
                        <a:rPr lang="en-US" sz="1200" u="none" strike="noStrike">
                          <a:effectLst/>
                        </a:rPr>
                        <a:t>examples labeled Tier 4 are actually Tier 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a:effectLst/>
                        </a:rPr>
                        <a:t>0.1602511</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11698333"/>
                  </a:ext>
                </a:extLst>
              </a:tr>
              <a:tr h="375285">
                <a:tc>
                  <a:txBody>
                    <a:bodyPr/>
                    <a:lstStyle/>
                    <a:p>
                      <a:pPr algn="l" fontAlgn="b"/>
                      <a:r>
                        <a:rPr lang="en-US" sz="1200" u="none" strike="noStrike">
                          <a:effectLst/>
                        </a:rPr>
                        <a:t>examples labeled Tier 4 are actually Tier 4</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200" u="none" strike="noStrike" dirty="0">
                          <a:effectLst/>
                        </a:rPr>
                        <a:t>0.69607092</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49930270"/>
                  </a:ext>
                </a:extLst>
              </a:tr>
            </a:tbl>
          </a:graphicData>
        </a:graphic>
      </p:graphicFrame>
    </p:spTree>
    <p:extLst>
      <p:ext uri="{BB962C8B-B14F-4D97-AF65-F5344CB8AC3E}">
        <p14:creationId xmlns:p14="http://schemas.microsoft.com/office/powerpoint/2010/main" val="3490041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C3ACA-83FB-27A2-6FAD-129D6D75FD9D}"/>
              </a:ext>
            </a:extLst>
          </p:cNvPr>
          <p:cNvSpPr>
            <a:spLocks noGrp="1"/>
          </p:cNvSpPr>
          <p:nvPr>
            <p:ph type="title"/>
          </p:nvPr>
        </p:nvSpPr>
        <p:spPr/>
        <p:txBody>
          <a:bodyPr/>
          <a:lstStyle/>
          <a:p>
            <a:r>
              <a:rPr lang="en-US" dirty="0"/>
              <a:t>Grid World</a:t>
            </a:r>
          </a:p>
        </p:txBody>
      </p:sp>
      <p:sp>
        <p:nvSpPr>
          <p:cNvPr id="3" name="Content Placeholder 2">
            <a:extLst>
              <a:ext uri="{FF2B5EF4-FFF2-40B4-BE49-F238E27FC236}">
                <a16:creationId xmlns:a16="http://schemas.microsoft.com/office/drawing/2014/main" id="{B4A15AEB-CB8A-D48C-CC2A-84FF5B03547E}"/>
              </a:ext>
            </a:extLst>
          </p:cNvPr>
          <p:cNvSpPr>
            <a:spLocks noGrp="1"/>
          </p:cNvSpPr>
          <p:nvPr>
            <p:ph idx="1"/>
          </p:nvPr>
        </p:nvSpPr>
        <p:spPr/>
        <p:txBody>
          <a:bodyPr>
            <a:normAutofit fontScale="92500" lnSpcReduction="20000"/>
          </a:bodyPr>
          <a:lstStyle/>
          <a:p>
            <a:r>
              <a:rPr lang="en-US" dirty="0"/>
              <a:t>profile = ["STATEFIP", "METRO", "OWNERSHPD", "MORTGAGE", "NCHILD", "SEX", "AGE", "MARST", "RACE", "HISPAN", "BPL", "CITIZEN", "YRSUSA1", "LANGUAGE", "SPEAKENG", "SCHOOL", "EDUC", "EMPSTAT", "OCC", "UHRSWORK", "TRANWORK", "CARPOOL"]</a:t>
            </a:r>
          </a:p>
          <a:p>
            <a:pPr lvl="1"/>
            <a:r>
              <a:rPr lang="en-US" dirty="0"/>
              <a:t>22 characteristics</a:t>
            </a:r>
          </a:p>
          <a:p>
            <a:r>
              <a:rPr lang="en-US" dirty="0"/>
              <a:t>The above is a representation of a coordinate, a point in space of my grid world.</a:t>
            </a:r>
          </a:p>
          <a:p>
            <a:r>
              <a:rPr lang="en-US" dirty="0"/>
              <a:t>By changing the value of each characteristic, my agent can “move” through this world. Given the training data, I imagined a world where certain areas of it were defined by low/high incomes and everything in between. </a:t>
            </a:r>
          </a:p>
          <a:p>
            <a:r>
              <a:rPr lang="en-US" dirty="0"/>
              <a:t>The goal was for my agent to learn which characteristics to change and what values to change them to, which would lead the agent to a higher income space. </a:t>
            </a:r>
          </a:p>
        </p:txBody>
      </p:sp>
    </p:spTree>
    <p:extLst>
      <p:ext uri="{BB962C8B-B14F-4D97-AF65-F5344CB8AC3E}">
        <p14:creationId xmlns:p14="http://schemas.microsoft.com/office/powerpoint/2010/main" val="2038427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6A9A7-D907-6CBE-3ACA-645481D37D50}"/>
              </a:ext>
            </a:extLst>
          </p:cNvPr>
          <p:cNvSpPr>
            <a:spLocks noGrp="1"/>
          </p:cNvSpPr>
          <p:nvPr>
            <p:ph type="title"/>
          </p:nvPr>
        </p:nvSpPr>
        <p:spPr/>
        <p:txBody>
          <a:bodyPr/>
          <a:lstStyle/>
          <a:p>
            <a:r>
              <a:rPr lang="en-US" dirty="0"/>
              <a:t>Reinforcement Learning Continued</a:t>
            </a:r>
          </a:p>
        </p:txBody>
      </p:sp>
      <p:sp>
        <p:nvSpPr>
          <p:cNvPr id="3" name="Content Placeholder 2">
            <a:extLst>
              <a:ext uri="{FF2B5EF4-FFF2-40B4-BE49-F238E27FC236}">
                <a16:creationId xmlns:a16="http://schemas.microsoft.com/office/drawing/2014/main" id="{E546AA3A-6E25-2F29-DE6C-EC7C312BA377}"/>
              </a:ext>
            </a:extLst>
          </p:cNvPr>
          <p:cNvSpPr>
            <a:spLocks noGrp="1"/>
          </p:cNvSpPr>
          <p:nvPr>
            <p:ph idx="1"/>
          </p:nvPr>
        </p:nvSpPr>
        <p:spPr/>
        <p:txBody>
          <a:bodyPr>
            <a:normAutofit lnSpcReduction="10000"/>
          </a:bodyPr>
          <a:lstStyle/>
          <a:p>
            <a:r>
              <a:rPr lang="en-US" dirty="0"/>
              <a:t>State Space</a:t>
            </a:r>
          </a:p>
          <a:p>
            <a:pPr lvl="1"/>
            <a:r>
              <a:rPr lang="en-US" dirty="0"/>
              <a:t>Size: 9266013904752000000000 or 9.26e21 possibilities</a:t>
            </a:r>
          </a:p>
          <a:p>
            <a:pPr lvl="1"/>
            <a:r>
              <a:rPr lang="en-US" dirty="0"/>
              <a:t>This was after data engineering a couple variables and constraining my space via available actions. The original was on the order of 10^28.</a:t>
            </a:r>
          </a:p>
          <a:p>
            <a:r>
              <a:rPr lang="en-US" dirty="0"/>
              <a:t>Available Actions</a:t>
            </a:r>
          </a:p>
          <a:p>
            <a:pPr lvl="1"/>
            <a:r>
              <a:rPr lang="en-US" dirty="0"/>
              <a:t>I limited what actions could be taken given your current state.</a:t>
            </a:r>
          </a:p>
          <a:p>
            <a:pPr lvl="1"/>
            <a:r>
              <a:rPr lang="en-US" dirty="0"/>
              <a:t>Ex) You could ”move” education by one year. If you’re at a high school level, you can’t jump to a PhD</a:t>
            </a:r>
          </a:p>
          <a:p>
            <a:pPr lvl="1"/>
            <a:r>
              <a:rPr lang="en-US" dirty="0"/>
              <a:t>Some characteristics were not constrained at all such as STATE, you could choose to move to any state, whenever</a:t>
            </a:r>
          </a:p>
          <a:p>
            <a:pPr lvl="1"/>
            <a:r>
              <a:rPr lang="en-US" dirty="0"/>
              <a:t>Some characteristics weren’t considered, such as Birthplace or Race, those would stay the same throughout a person/RL agent’s journey</a:t>
            </a:r>
          </a:p>
          <a:p>
            <a:pPr lvl="1"/>
            <a:endParaRPr lang="en-US" dirty="0"/>
          </a:p>
          <a:p>
            <a:endParaRPr lang="en-US" dirty="0"/>
          </a:p>
        </p:txBody>
      </p:sp>
    </p:spTree>
    <p:extLst>
      <p:ext uri="{BB962C8B-B14F-4D97-AF65-F5344CB8AC3E}">
        <p14:creationId xmlns:p14="http://schemas.microsoft.com/office/powerpoint/2010/main" val="325532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E7222-9EFE-2D3D-2B1B-75E2E5C33700}"/>
              </a:ext>
            </a:extLst>
          </p:cNvPr>
          <p:cNvSpPr>
            <a:spLocks noGrp="1"/>
          </p:cNvSpPr>
          <p:nvPr>
            <p:ph type="title"/>
          </p:nvPr>
        </p:nvSpPr>
        <p:spPr/>
        <p:txBody>
          <a:bodyPr/>
          <a:lstStyle/>
          <a:p>
            <a:r>
              <a:rPr lang="en-US" dirty="0"/>
              <a:t>Reinforcement Learning Continued</a:t>
            </a:r>
          </a:p>
        </p:txBody>
      </p:sp>
      <p:sp>
        <p:nvSpPr>
          <p:cNvPr id="3" name="Content Placeholder 2">
            <a:extLst>
              <a:ext uri="{FF2B5EF4-FFF2-40B4-BE49-F238E27FC236}">
                <a16:creationId xmlns:a16="http://schemas.microsoft.com/office/drawing/2014/main" id="{F1CEDC5A-5CD5-C476-6753-072AD13B9754}"/>
              </a:ext>
            </a:extLst>
          </p:cNvPr>
          <p:cNvSpPr>
            <a:spLocks noGrp="1"/>
          </p:cNvSpPr>
          <p:nvPr>
            <p:ph idx="1"/>
          </p:nvPr>
        </p:nvSpPr>
        <p:spPr/>
        <p:txBody>
          <a:bodyPr>
            <a:normAutofit lnSpcReduction="10000"/>
          </a:bodyPr>
          <a:lstStyle/>
          <a:p>
            <a:r>
              <a:rPr lang="en-US" dirty="0"/>
              <a:t>Reward Function</a:t>
            </a:r>
          </a:p>
          <a:p>
            <a:pPr lvl="1"/>
            <a:r>
              <a:rPr lang="en-US" dirty="0"/>
              <a:t>Used regular Q-learning for my updates</a:t>
            </a:r>
          </a:p>
          <a:p>
            <a:pPr lvl="2"/>
            <a:r>
              <a:rPr lang="en-US" dirty="0" err="1"/>
              <a:t>q_table</a:t>
            </a:r>
            <a:r>
              <a:rPr lang="en-US" dirty="0"/>
              <a:t>[state][action] += </a:t>
            </a:r>
            <a:r>
              <a:rPr lang="en-US" dirty="0" err="1"/>
              <a:t>learning_rate</a:t>
            </a:r>
            <a:r>
              <a:rPr lang="en-US" dirty="0"/>
              <a:t> * (reward + </a:t>
            </a:r>
            <a:r>
              <a:rPr lang="en-US" dirty="0" err="1"/>
              <a:t>discount_factor</a:t>
            </a:r>
            <a:r>
              <a:rPr lang="en-US" dirty="0"/>
              <a:t> * </a:t>
            </a:r>
            <a:r>
              <a:rPr lang="en-US" dirty="0" err="1"/>
              <a:t>q_table</a:t>
            </a:r>
            <a:r>
              <a:rPr lang="en-US" dirty="0"/>
              <a:t>[</a:t>
            </a:r>
            <a:r>
              <a:rPr lang="en-US" dirty="0" err="1"/>
              <a:t>next_state</a:t>
            </a:r>
            <a:r>
              <a:rPr lang="en-US" dirty="0"/>
              <a:t>][</a:t>
            </a:r>
            <a:r>
              <a:rPr lang="en-US" dirty="0" err="1"/>
              <a:t>max_action</a:t>
            </a:r>
            <a:r>
              <a:rPr lang="en-US" dirty="0"/>
              <a:t>] - </a:t>
            </a:r>
            <a:r>
              <a:rPr lang="en-US" dirty="0" err="1"/>
              <a:t>q_table</a:t>
            </a:r>
            <a:r>
              <a:rPr lang="en-US" dirty="0"/>
              <a:t>[state][action])</a:t>
            </a:r>
          </a:p>
          <a:p>
            <a:pPr lvl="1"/>
            <a:r>
              <a:rPr lang="en-US" dirty="0"/>
              <a:t>Decided on dense rewards</a:t>
            </a:r>
          </a:p>
          <a:p>
            <a:pPr lvl="2"/>
            <a:r>
              <a:rPr lang="en-US" dirty="0"/>
              <a:t>Wanted the agent to be rewarded for moving up in income level, not just getting to the highest income.</a:t>
            </a:r>
          </a:p>
          <a:p>
            <a:pPr lvl="2"/>
            <a:r>
              <a:rPr lang="en-US" dirty="0"/>
              <a:t>To encourage it to reach for the top, I increased the reward amount in the higher income tiers, so it would learn to strive to be in the higher income space</a:t>
            </a:r>
          </a:p>
          <a:p>
            <a:pPr lvl="1"/>
            <a:r>
              <a:rPr lang="en-US" dirty="0"/>
              <a:t>Positive rewards were only given when the </a:t>
            </a:r>
            <a:r>
              <a:rPr lang="en-US" dirty="0" err="1"/>
              <a:t>next_state</a:t>
            </a:r>
            <a:r>
              <a:rPr lang="en-US" dirty="0"/>
              <a:t> was deemed as higher income than the previous state. If an action brought a state to the next higher Tier, I would include a bonus in the reward as well. But I needed a way to differentiate income level for states in the same Tier. </a:t>
            </a:r>
          </a:p>
        </p:txBody>
      </p:sp>
    </p:spTree>
    <p:extLst>
      <p:ext uri="{BB962C8B-B14F-4D97-AF65-F5344CB8AC3E}">
        <p14:creationId xmlns:p14="http://schemas.microsoft.com/office/powerpoint/2010/main" val="485112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741A8-A9C4-0E6D-A1F5-A9FB3C733A8A}"/>
              </a:ext>
            </a:extLst>
          </p:cNvPr>
          <p:cNvSpPr>
            <a:spLocks noGrp="1"/>
          </p:cNvSpPr>
          <p:nvPr>
            <p:ph type="title"/>
          </p:nvPr>
        </p:nvSpPr>
        <p:spPr/>
        <p:txBody>
          <a:bodyPr/>
          <a:lstStyle/>
          <a:p>
            <a:r>
              <a:rPr lang="en-US" dirty="0"/>
              <a:t>Reinforcement Learning Continued</a:t>
            </a:r>
          </a:p>
        </p:txBody>
      </p:sp>
      <p:sp>
        <p:nvSpPr>
          <p:cNvPr id="3" name="Content Placeholder 2">
            <a:extLst>
              <a:ext uri="{FF2B5EF4-FFF2-40B4-BE49-F238E27FC236}">
                <a16:creationId xmlns:a16="http://schemas.microsoft.com/office/drawing/2014/main" id="{931A1E7F-D439-E5A8-6AC4-AE3B825D33D9}"/>
              </a:ext>
            </a:extLst>
          </p:cNvPr>
          <p:cNvSpPr>
            <a:spLocks noGrp="1"/>
          </p:cNvSpPr>
          <p:nvPr>
            <p:ph idx="1"/>
          </p:nvPr>
        </p:nvSpPr>
        <p:spPr/>
        <p:txBody>
          <a:bodyPr>
            <a:normAutofit/>
          </a:bodyPr>
          <a:lstStyle/>
          <a:p>
            <a:r>
              <a:rPr lang="en-US" dirty="0"/>
              <a:t>Reward function</a:t>
            </a:r>
          </a:p>
          <a:p>
            <a:pPr lvl="1"/>
            <a:r>
              <a:rPr lang="en-US" dirty="0"/>
              <a:t>I used the </a:t>
            </a:r>
            <a:r>
              <a:rPr lang="en-US" dirty="0" err="1"/>
              <a:t>predict_prob</a:t>
            </a:r>
            <a:r>
              <a:rPr lang="en-US" dirty="0"/>
              <a:t> function of my model to compare income levels of states</a:t>
            </a:r>
          </a:p>
          <a:p>
            <a:pPr lvl="2"/>
            <a:r>
              <a:rPr lang="en-US" dirty="0"/>
              <a:t>If </a:t>
            </a:r>
            <a:r>
              <a:rPr lang="en-US" dirty="0" err="1"/>
              <a:t>next_state</a:t>
            </a:r>
            <a:r>
              <a:rPr lang="en-US" dirty="0"/>
              <a:t> had a larger probability than </a:t>
            </a:r>
            <a:r>
              <a:rPr lang="en-US" dirty="0" err="1"/>
              <a:t>current_state</a:t>
            </a:r>
            <a:r>
              <a:rPr lang="en-US" dirty="0"/>
              <a:t>, I would return a positive reward for that action. </a:t>
            </a:r>
          </a:p>
          <a:p>
            <a:pPr lvl="3"/>
            <a:r>
              <a:rPr lang="en-US" dirty="0"/>
              <a:t>Depending on the </a:t>
            </a:r>
            <a:r>
              <a:rPr lang="en-US" dirty="0" err="1"/>
              <a:t>current_state</a:t>
            </a:r>
            <a:r>
              <a:rPr lang="en-US" dirty="0"/>
              <a:t>, I would use the probability of being in Tier 3 or 4</a:t>
            </a:r>
          </a:p>
          <a:p>
            <a:pPr lvl="2"/>
            <a:r>
              <a:rPr lang="en-US" dirty="0"/>
              <a:t>If the probabilities were the same, reward would be 1</a:t>
            </a:r>
          </a:p>
          <a:p>
            <a:pPr lvl="2"/>
            <a:r>
              <a:rPr lang="en-US" dirty="0"/>
              <a:t>If </a:t>
            </a:r>
            <a:r>
              <a:rPr lang="en-US" dirty="0" err="1"/>
              <a:t>next_state’s</a:t>
            </a:r>
            <a:r>
              <a:rPr lang="en-US" dirty="0"/>
              <a:t> probability was lower, that would mean the action taken brought the agent farther from the higher income space, therefore I’d return a negative reward</a:t>
            </a:r>
          </a:p>
          <a:p>
            <a:pPr marL="914400" lvl="2" indent="0">
              <a:buNone/>
            </a:pPr>
            <a:endParaRPr lang="en-US" dirty="0"/>
          </a:p>
        </p:txBody>
      </p:sp>
    </p:spTree>
    <p:extLst>
      <p:ext uri="{BB962C8B-B14F-4D97-AF65-F5344CB8AC3E}">
        <p14:creationId xmlns:p14="http://schemas.microsoft.com/office/powerpoint/2010/main" val="1300583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89395-46AB-D0E1-D7FD-D8A4AE638381}"/>
              </a:ext>
            </a:extLst>
          </p:cNvPr>
          <p:cNvSpPr>
            <a:spLocks noGrp="1"/>
          </p:cNvSpPr>
          <p:nvPr>
            <p:ph type="ctrTitle"/>
          </p:nvPr>
        </p:nvSpPr>
        <p:spPr>
          <a:xfrm>
            <a:off x="1286005" y="1347832"/>
            <a:ext cx="9144000" cy="2387600"/>
          </a:xfrm>
        </p:spPr>
        <p:txBody>
          <a:bodyPr/>
          <a:lstStyle/>
          <a:p>
            <a:r>
              <a:rPr lang="en-US" dirty="0"/>
              <a:t>Testing</a:t>
            </a:r>
          </a:p>
        </p:txBody>
      </p:sp>
    </p:spTree>
    <p:extLst>
      <p:ext uri="{BB962C8B-B14F-4D97-AF65-F5344CB8AC3E}">
        <p14:creationId xmlns:p14="http://schemas.microsoft.com/office/powerpoint/2010/main" val="3509811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AB88A-46B0-E603-C427-DC3FADE1E006}"/>
              </a:ext>
            </a:extLst>
          </p:cNvPr>
          <p:cNvSpPr>
            <a:spLocks noGrp="1"/>
          </p:cNvSpPr>
          <p:nvPr>
            <p:ph type="title"/>
          </p:nvPr>
        </p:nvSpPr>
        <p:spPr/>
        <p:txBody>
          <a:bodyPr/>
          <a:lstStyle/>
          <a:p>
            <a:r>
              <a:rPr lang="en-US" dirty="0"/>
              <a:t>Tier 1 Learning</a:t>
            </a:r>
          </a:p>
        </p:txBody>
      </p:sp>
      <p:pic>
        <p:nvPicPr>
          <p:cNvPr id="5" name="Content Placeholder 4" descr="A graph with blue dots&#10;&#10;Description automatically generated">
            <a:extLst>
              <a:ext uri="{FF2B5EF4-FFF2-40B4-BE49-F238E27FC236}">
                <a16:creationId xmlns:a16="http://schemas.microsoft.com/office/drawing/2014/main" id="{0A42281F-FC61-79D6-7FEC-7D04C11B2B80}"/>
              </a:ext>
            </a:extLst>
          </p:cNvPr>
          <p:cNvPicPr>
            <a:picLocks noGrp="1" noChangeAspect="1"/>
          </p:cNvPicPr>
          <p:nvPr>
            <p:ph idx="1"/>
          </p:nvPr>
        </p:nvPicPr>
        <p:blipFill>
          <a:blip r:embed="rId3"/>
          <a:stretch>
            <a:fillRect/>
          </a:stretch>
        </p:blipFill>
        <p:spPr>
          <a:xfrm>
            <a:off x="1099809" y="1703214"/>
            <a:ext cx="4073440" cy="4351338"/>
          </a:xfrm>
        </p:spPr>
      </p:pic>
      <p:sp>
        <p:nvSpPr>
          <p:cNvPr id="6" name="TextBox 5">
            <a:extLst>
              <a:ext uri="{FF2B5EF4-FFF2-40B4-BE49-F238E27FC236}">
                <a16:creationId xmlns:a16="http://schemas.microsoft.com/office/drawing/2014/main" id="{59385838-31CD-1F70-DA48-2F449E477D07}"/>
              </a:ext>
            </a:extLst>
          </p:cNvPr>
          <p:cNvSpPr txBox="1"/>
          <p:nvPr/>
        </p:nvSpPr>
        <p:spPr>
          <a:xfrm rot="16200000">
            <a:off x="406189" y="3547872"/>
            <a:ext cx="1125629" cy="261610"/>
          </a:xfrm>
          <a:prstGeom prst="rect">
            <a:avLst/>
          </a:prstGeom>
          <a:noFill/>
        </p:spPr>
        <p:txBody>
          <a:bodyPr wrap="none" rtlCol="0">
            <a:spAutoFit/>
          </a:bodyPr>
          <a:lstStyle/>
          <a:p>
            <a:r>
              <a:rPr lang="en-US" sz="1100" dirty="0"/>
              <a:t>Average Reward</a:t>
            </a:r>
          </a:p>
        </p:txBody>
      </p:sp>
      <p:sp>
        <p:nvSpPr>
          <p:cNvPr id="7" name="TextBox 6">
            <a:extLst>
              <a:ext uri="{FF2B5EF4-FFF2-40B4-BE49-F238E27FC236}">
                <a16:creationId xmlns:a16="http://schemas.microsoft.com/office/drawing/2014/main" id="{8A5457D3-4E37-4519-18FC-76E1E57A6D7A}"/>
              </a:ext>
            </a:extLst>
          </p:cNvPr>
          <p:cNvSpPr txBox="1"/>
          <p:nvPr/>
        </p:nvSpPr>
        <p:spPr>
          <a:xfrm>
            <a:off x="6876288" y="1804416"/>
            <a:ext cx="3968420" cy="3970318"/>
          </a:xfrm>
          <a:prstGeom prst="rect">
            <a:avLst/>
          </a:prstGeom>
          <a:noFill/>
        </p:spPr>
        <p:txBody>
          <a:bodyPr wrap="square" rtlCol="0">
            <a:spAutoFit/>
          </a:bodyPr>
          <a:lstStyle/>
          <a:p>
            <a:pPr marL="285750" indent="-285750">
              <a:buFont typeface="Arial" panose="020B0604020202020204" pitchFamily="34" charset="0"/>
              <a:buChar char="•"/>
            </a:pPr>
            <a:r>
              <a:rPr lang="en-US" dirty="0"/>
              <a:t>Best fit line shows a positive slope showing that the average accumulated reward is increasing during training</a:t>
            </a:r>
          </a:p>
          <a:p>
            <a:pPr marL="742950" lvl="1" indent="-285750">
              <a:buFont typeface="Arial" panose="020B0604020202020204" pitchFamily="34" charset="0"/>
              <a:buChar char="•"/>
            </a:pPr>
            <a:r>
              <a:rPr lang="en-US" dirty="0"/>
              <a:t>Slope:  0.26</a:t>
            </a:r>
          </a:p>
          <a:p>
            <a:pPr marL="285750" indent="-285750">
              <a:buFont typeface="Arial" panose="020B0604020202020204" pitchFamily="34" charset="0"/>
              <a:buChar char="•"/>
            </a:pPr>
            <a:r>
              <a:rPr lang="en-US" dirty="0"/>
              <a:t>Naïve Run Average Reward: -72</a:t>
            </a:r>
          </a:p>
          <a:p>
            <a:pPr marL="285750" indent="-285750">
              <a:buFont typeface="Arial" panose="020B0604020202020204" pitchFamily="34" charset="0"/>
              <a:buChar char="•"/>
            </a:pPr>
            <a:r>
              <a:rPr lang="en-US" dirty="0"/>
              <a:t>Greedy Runs Average Rewards</a:t>
            </a:r>
          </a:p>
          <a:p>
            <a:pPr marL="742950" lvl="1" indent="-285750">
              <a:buFont typeface="Arial" panose="020B0604020202020204" pitchFamily="34" charset="0"/>
              <a:buChar char="•"/>
            </a:pPr>
            <a:r>
              <a:rPr lang="en-US" dirty="0"/>
              <a:t>V1: 998</a:t>
            </a:r>
          </a:p>
          <a:p>
            <a:pPr marL="742950" lvl="1" indent="-285750">
              <a:buFont typeface="Arial" panose="020B0604020202020204" pitchFamily="34" charset="0"/>
              <a:buChar char="•"/>
            </a:pPr>
            <a:r>
              <a:rPr lang="en-US" dirty="0"/>
              <a:t>V3: 502</a:t>
            </a:r>
          </a:p>
          <a:p>
            <a:pPr marL="742950" lvl="1" indent="-285750">
              <a:buFont typeface="Arial" panose="020B0604020202020204" pitchFamily="34" charset="0"/>
              <a:buChar char="•"/>
            </a:pPr>
            <a:r>
              <a:rPr lang="en-US" dirty="0"/>
              <a:t>V6: 1697</a:t>
            </a:r>
          </a:p>
          <a:p>
            <a:pPr marL="285750" indent="-285750">
              <a:buFont typeface="Arial" panose="020B0604020202020204" pitchFamily="34" charset="0"/>
              <a:buChar char="•"/>
            </a:pPr>
            <a:r>
              <a:rPr lang="en-US" dirty="0"/>
              <a:t>Greedy Runs Average Tier 1 Mix</a:t>
            </a:r>
          </a:p>
          <a:p>
            <a:pPr marL="742950" lvl="1" indent="-285750">
              <a:buFont typeface="Arial" panose="020B0604020202020204" pitchFamily="34" charset="0"/>
              <a:buChar char="•"/>
            </a:pPr>
            <a:r>
              <a:rPr lang="en-US" dirty="0"/>
              <a:t>V1: -316</a:t>
            </a:r>
          </a:p>
          <a:p>
            <a:pPr marL="742950" lvl="1" indent="-285750">
              <a:buFont typeface="Arial" panose="020B0604020202020204" pitchFamily="34" charset="0"/>
              <a:buChar char="•"/>
            </a:pPr>
            <a:r>
              <a:rPr lang="en-US" dirty="0"/>
              <a:t>V3: -365</a:t>
            </a:r>
          </a:p>
          <a:p>
            <a:pPr marL="742950" lvl="1" indent="-285750">
              <a:buFont typeface="Arial" panose="020B0604020202020204" pitchFamily="34" charset="0"/>
              <a:buChar char="•"/>
            </a:pPr>
            <a:r>
              <a:rPr lang="en-US" dirty="0"/>
              <a:t>V6: -3</a:t>
            </a:r>
          </a:p>
        </p:txBody>
      </p:sp>
    </p:spTree>
    <p:extLst>
      <p:ext uri="{BB962C8B-B14F-4D97-AF65-F5344CB8AC3E}">
        <p14:creationId xmlns:p14="http://schemas.microsoft.com/office/powerpoint/2010/main" val="3638030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E8B90-E9BC-D1FD-5287-E98900F65927}"/>
              </a:ext>
            </a:extLst>
          </p:cNvPr>
          <p:cNvSpPr>
            <a:spLocks noGrp="1"/>
          </p:cNvSpPr>
          <p:nvPr>
            <p:ph type="title"/>
          </p:nvPr>
        </p:nvSpPr>
        <p:spPr/>
        <p:txBody>
          <a:bodyPr/>
          <a:lstStyle/>
          <a:p>
            <a:r>
              <a:rPr lang="en-US" dirty="0"/>
              <a:t>Tier 4 Learning</a:t>
            </a:r>
          </a:p>
        </p:txBody>
      </p:sp>
      <p:pic>
        <p:nvPicPr>
          <p:cNvPr id="8" name="Content Placeholder 7" descr="A graph with blue dots&#10;&#10;Description automatically generated">
            <a:extLst>
              <a:ext uri="{FF2B5EF4-FFF2-40B4-BE49-F238E27FC236}">
                <a16:creationId xmlns:a16="http://schemas.microsoft.com/office/drawing/2014/main" id="{094168D4-4A0D-727E-D5B0-DD2E7877DC40}"/>
              </a:ext>
            </a:extLst>
          </p:cNvPr>
          <p:cNvPicPr>
            <a:picLocks noGrp="1" noChangeAspect="1"/>
          </p:cNvPicPr>
          <p:nvPr>
            <p:ph idx="1"/>
          </p:nvPr>
        </p:nvPicPr>
        <p:blipFill>
          <a:blip r:embed="rId3"/>
          <a:stretch>
            <a:fillRect/>
          </a:stretch>
        </p:blipFill>
        <p:spPr>
          <a:xfrm>
            <a:off x="1038234" y="1662304"/>
            <a:ext cx="4172594" cy="4351338"/>
          </a:xfrm>
        </p:spPr>
      </p:pic>
      <p:sp>
        <p:nvSpPr>
          <p:cNvPr id="9" name="TextBox 8">
            <a:extLst>
              <a:ext uri="{FF2B5EF4-FFF2-40B4-BE49-F238E27FC236}">
                <a16:creationId xmlns:a16="http://schemas.microsoft.com/office/drawing/2014/main" id="{BBB52675-676A-BC64-FC20-61C93DFDD098}"/>
              </a:ext>
            </a:extLst>
          </p:cNvPr>
          <p:cNvSpPr txBox="1"/>
          <p:nvPr/>
        </p:nvSpPr>
        <p:spPr>
          <a:xfrm rot="16200000">
            <a:off x="406189" y="3547872"/>
            <a:ext cx="1125629" cy="261610"/>
          </a:xfrm>
          <a:prstGeom prst="rect">
            <a:avLst/>
          </a:prstGeom>
          <a:noFill/>
        </p:spPr>
        <p:txBody>
          <a:bodyPr wrap="none" rtlCol="0">
            <a:spAutoFit/>
          </a:bodyPr>
          <a:lstStyle/>
          <a:p>
            <a:r>
              <a:rPr lang="en-US" sz="1100" dirty="0"/>
              <a:t>Average Reward</a:t>
            </a:r>
          </a:p>
        </p:txBody>
      </p:sp>
      <p:sp>
        <p:nvSpPr>
          <p:cNvPr id="10" name="TextBox 9">
            <a:extLst>
              <a:ext uri="{FF2B5EF4-FFF2-40B4-BE49-F238E27FC236}">
                <a16:creationId xmlns:a16="http://schemas.microsoft.com/office/drawing/2014/main" id="{F091CF6C-CD34-DB0D-410C-D73011AB5755}"/>
              </a:ext>
            </a:extLst>
          </p:cNvPr>
          <p:cNvSpPr txBox="1"/>
          <p:nvPr/>
        </p:nvSpPr>
        <p:spPr>
          <a:xfrm>
            <a:off x="6876288" y="1804416"/>
            <a:ext cx="3968420" cy="4247317"/>
          </a:xfrm>
          <a:prstGeom prst="rect">
            <a:avLst/>
          </a:prstGeom>
          <a:noFill/>
        </p:spPr>
        <p:txBody>
          <a:bodyPr wrap="square" rtlCol="0">
            <a:spAutoFit/>
          </a:bodyPr>
          <a:lstStyle/>
          <a:p>
            <a:pPr marL="285750" indent="-285750">
              <a:buFont typeface="Arial" panose="020B0604020202020204" pitchFamily="34" charset="0"/>
              <a:buChar char="•"/>
            </a:pPr>
            <a:r>
              <a:rPr lang="en-US" dirty="0"/>
              <a:t>Best fit line shows a positive slope showing that the average accumulated reward is increasing during training</a:t>
            </a:r>
          </a:p>
          <a:p>
            <a:pPr marL="742950" lvl="1" indent="-285750">
              <a:buFont typeface="Arial" panose="020B0604020202020204" pitchFamily="34" charset="0"/>
              <a:buChar char="•"/>
            </a:pPr>
            <a:r>
              <a:rPr lang="en-US" dirty="0"/>
              <a:t>Slope:  0.97</a:t>
            </a:r>
          </a:p>
          <a:p>
            <a:pPr marL="285750" indent="-285750">
              <a:buFont typeface="Arial" panose="020B0604020202020204" pitchFamily="34" charset="0"/>
              <a:buChar char="•"/>
            </a:pPr>
            <a:r>
              <a:rPr lang="en-US" dirty="0"/>
              <a:t>Naïve Run Average Reward: -789</a:t>
            </a:r>
          </a:p>
          <a:p>
            <a:pPr marL="285750" indent="-285750">
              <a:buFont typeface="Arial" panose="020B0604020202020204" pitchFamily="34" charset="0"/>
              <a:buChar char="•"/>
            </a:pPr>
            <a:r>
              <a:rPr lang="en-US" dirty="0"/>
              <a:t>Greedy Runs Average Rewards</a:t>
            </a:r>
          </a:p>
          <a:p>
            <a:pPr marL="742950" lvl="1" indent="-285750">
              <a:buFont typeface="Arial" panose="020B0604020202020204" pitchFamily="34" charset="0"/>
              <a:buChar char="•"/>
            </a:pPr>
            <a:r>
              <a:rPr lang="en-US" dirty="0"/>
              <a:t>V1: 1321</a:t>
            </a:r>
          </a:p>
          <a:p>
            <a:pPr marL="742950" lvl="1" indent="-285750">
              <a:buFont typeface="Arial" panose="020B0604020202020204" pitchFamily="34" charset="0"/>
              <a:buChar char="•"/>
            </a:pPr>
            <a:r>
              <a:rPr lang="en-US" dirty="0"/>
              <a:t>V3: 2102</a:t>
            </a:r>
          </a:p>
          <a:p>
            <a:pPr marL="742950" lvl="1" indent="-285750">
              <a:buFont typeface="Arial" panose="020B0604020202020204" pitchFamily="34" charset="0"/>
              <a:buChar char="•"/>
            </a:pPr>
            <a:r>
              <a:rPr lang="en-US" dirty="0"/>
              <a:t>V6: 2530</a:t>
            </a:r>
          </a:p>
          <a:p>
            <a:pPr marL="285750" indent="-285750">
              <a:buFont typeface="Arial" panose="020B0604020202020204" pitchFamily="34" charset="0"/>
              <a:buChar char="•"/>
            </a:pPr>
            <a:r>
              <a:rPr lang="en-US" dirty="0"/>
              <a:t>Greedy Runs Average Tier 4 Mix</a:t>
            </a:r>
          </a:p>
          <a:p>
            <a:pPr marL="742950" lvl="1" indent="-285750">
              <a:buFont typeface="Arial" panose="020B0604020202020204" pitchFamily="34" charset="0"/>
              <a:buChar char="•"/>
            </a:pPr>
            <a:r>
              <a:rPr lang="en-US" dirty="0"/>
              <a:t>V1: 174</a:t>
            </a:r>
          </a:p>
          <a:p>
            <a:pPr marL="742950" lvl="1" indent="-285750">
              <a:buFont typeface="Arial" panose="020B0604020202020204" pitchFamily="34" charset="0"/>
              <a:buChar char="•"/>
            </a:pPr>
            <a:r>
              <a:rPr lang="en-US" dirty="0"/>
              <a:t>V3: 295</a:t>
            </a:r>
          </a:p>
          <a:p>
            <a:pPr marL="742950" lvl="1" indent="-285750">
              <a:buFont typeface="Arial" panose="020B0604020202020204" pitchFamily="34" charset="0"/>
              <a:buChar char="•"/>
            </a:pPr>
            <a:r>
              <a:rPr lang="en-US" dirty="0"/>
              <a:t>V6: 713</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466694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F26D6-5C71-6049-79E4-75E618538C64}"/>
              </a:ext>
            </a:extLst>
          </p:cNvPr>
          <p:cNvSpPr>
            <a:spLocks noGrp="1"/>
          </p:cNvSpPr>
          <p:nvPr>
            <p:ph type="title"/>
          </p:nvPr>
        </p:nvSpPr>
        <p:spPr/>
        <p:txBody>
          <a:bodyPr/>
          <a:lstStyle/>
          <a:p>
            <a:r>
              <a:rPr lang="en-US" dirty="0"/>
              <a:t>Mixed Learning</a:t>
            </a:r>
          </a:p>
        </p:txBody>
      </p:sp>
      <p:pic>
        <p:nvPicPr>
          <p:cNvPr id="5" name="Content Placeholder 4">
            <a:extLst>
              <a:ext uri="{FF2B5EF4-FFF2-40B4-BE49-F238E27FC236}">
                <a16:creationId xmlns:a16="http://schemas.microsoft.com/office/drawing/2014/main" id="{BF96F81E-CF80-653E-6991-6A99163F338F}"/>
              </a:ext>
            </a:extLst>
          </p:cNvPr>
          <p:cNvPicPr>
            <a:picLocks noGrp="1" noChangeAspect="1"/>
          </p:cNvPicPr>
          <p:nvPr>
            <p:ph idx="1"/>
          </p:nvPr>
        </p:nvPicPr>
        <p:blipFill>
          <a:blip r:embed="rId3"/>
          <a:stretch>
            <a:fillRect/>
          </a:stretch>
        </p:blipFill>
        <p:spPr>
          <a:xfrm>
            <a:off x="1099809" y="1690688"/>
            <a:ext cx="4487644" cy="4351338"/>
          </a:xfrm>
        </p:spPr>
      </p:pic>
      <p:sp>
        <p:nvSpPr>
          <p:cNvPr id="6" name="TextBox 5">
            <a:extLst>
              <a:ext uri="{FF2B5EF4-FFF2-40B4-BE49-F238E27FC236}">
                <a16:creationId xmlns:a16="http://schemas.microsoft.com/office/drawing/2014/main" id="{6BC0E012-080C-3063-7B7C-167DE8503E94}"/>
              </a:ext>
            </a:extLst>
          </p:cNvPr>
          <p:cNvSpPr txBox="1"/>
          <p:nvPr/>
        </p:nvSpPr>
        <p:spPr>
          <a:xfrm rot="16200000">
            <a:off x="406189" y="3547872"/>
            <a:ext cx="1125629" cy="261610"/>
          </a:xfrm>
          <a:prstGeom prst="rect">
            <a:avLst/>
          </a:prstGeom>
          <a:noFill/>
        </p:spPr>
        <p:txBody>
          <a:bodyPr wrap="none" rtlCol="0">
            <a:spAutoFit/>
          </a:bodyPr>
          <a:lstStyle/>
          <a:p>
            <a:r>
              <a:rPr lang="en-US" sz="1100" dirty="0"/>
              <a:t>Average Reward</a:t>
            </a:r>
          </a:p>
        </p:txBody>
      </p:sp>
      <p:sp>
        <p:nvSpPr>
          <p:cNvPr id="7" name="TextBox 6">
            <a:extLst>
              <a:ext uri="{FF2B5EF4-FFF2-40B4-BE49-F238E27FC236}">
                <a16:creationId xmlns:a16="http://schemas.microsoft.com/office/drawing/2014/main" id="{2662D527-4DEC-67A1-5319-8FEF85BE7C2F}"/>
              </a:ext>
            </a:extLst>
          </p:cNvPr>
          <p:cNvSpPr txBox="1"/>
          <p:nvPr/>
        </p:nvSpPr>
        <p:spPr>
          <a:xfrm>
            <a:off x="6876288" y="1804416"/>
            <a:ext cx="3968420" cy="3139321"/>
          </a:xfrm>
          <a:prstGeom prst="rect">
            <a:avLst/>
          </a:prstGeom>
          <a:noFill/>
        </p:spPr>
        <p:txBody>
          <a:bodyPr wrap="square" rtlCol="0">
            <a:spAutoFit/>
          </a:bodyPr>
          <a:lstStyle/>
          <a:p>
            <a:pPr marL="285750" indent="-285750">
              <a:buFont typeface="Arial" panose="020B0604020202020204" pitchFamily="34" charset="0"/>
              <a:buChar char="•"/>
            </a:pPr>
            <a:r>
              <a:rPr lang="en-US" dirty="0"/>
              <a:t>Best fit line shows a positive slope showing that the average accumulated reward is increasing during training</a:t>
            </a:r>
          </a:p>
          <a:p>
            <a:pPr marL="742950" lvl="1" indent="-285750">
              <a:buFont typeface="Arial" panose="020B0604020202020204" pitchFamily="34" charset="0"/>
              <a:buChar char="•"/>
            </a:pPr>
            <a:r>
              <a:rPr lang="en-US" dirty="0"/>
              <a:t>Slope:  0.65</a:t>
            </a:r>
          </a:p>
          <a:p>
            <a:pPr marL="285750" indent="-285750">
              <a:buFont typeface="Arial" panose="020B0604020202020204" pitchFamily="34" charset="0"/>
              <a:buChar char="•"/>
            </a:pPr>
            <a:r>
              <a:rPr lang="en-US" dirty="0"/>
              <a:t>Naïve Run Average Reward: -252</a:t>
            </a:r>
          </a:p>
          <a:p>
            <a:pPr marL="285750" indent="-285750">
              <a:buFont typeface="Arial" panose="020B0604020202020204" pitchFamily="34" charset="0"/>
              <a:buChar char="•"/>
            </a:pPr>
            <a:r>
              <a:rPr lang="en-US" dirty="0"/>
              <a:t>Greedy Runs Average Rewards</a:t>
            </a:r>
          </a:p>
          <a:p>
            <a:pPr marL="742950" lvl="1" indent="-285750">
              <a:buFont typeface="Arial" panose="020B0604020202020204" pitchFamily="34" charset="0"/>
              <a:buChar char="•"/>
            </a:pPr>
            <a:r>
              <a:rPr lang="en-US" dirty="0"/>
              <a:t>V1: 1511</a:t>
            </a:r>
          </a:p>
          <a:p>
            <a:pPr marL="742950" lvl="1" indent="-285750">
              <a:buFont typeface="Arial" panose="020B0604020202020204" pitchFamily="34" charset="0"/>
              <a:buChar char="•"/>
            </a:pPr>
            <a:r>
              <a:rPr lang="en-US" dirty="0"/>
              <a:t>V2: 1734</a:t>
            </a:r>
          </a:p>
          <a:p>
            <a:pPr lvl="1"/>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9538135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C8AF0-FEBC-0603-F76B-6B719DDFF83A}"/>
              </a:ext>
            </a:extLst>
          </p:cNvPr>
          <p:cNvSpPr>
            <a:spLocks noGrp="1"/>
          </p:cNvSpPr>
          <p:nvPr>
            <p:ph type="ctrTitle"/>
          </p:nvPr>
        </p:nvSpPr>
        <p:spPr>
          <a:xfrm>
            <a:off x="1361161" y="1460566"/>
            <a:ext cx="9144000" cy="2387600"/>
          </a:xfrm>
        </p:spPr>
        <p:txBody>
          <a:bodyPr/>
          <a:lstStyle/>
          <a:p>
            <a:r>
              <a:rPr lang="en-US" dirty="0"/>
              <a:t>Results</a:t>
            </a:r>
          </a:p>
        </p:txBody>
      </p:sp>
    </p:spTree>
    <p:extLst>
      <p:ext uri="{BB962C8B-B14F-4D97-AF65-F5344CB8AC3E}">
        <p14:creationId xmlns:p14="http://schemas.microsoft.com/office/powerpoint/2010/main" val="27865721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6A458-DB66-A1C4-A359-217243394A99}"/>
              </a:ext>
            </a:extLst>
          </p:cNvPr>
          <p:cNvSpPr>
            <a:spLocks noGrp="1"/>
          </p:cNvSpPr>
          <p:nvPr>
            <p:ph type="title"/>
          </p:nvPr>
        </p:nvSpPr>
        <p:spPr>
          <a:xfrm>
            <a:off x="838200" y="86803"/>
            <a:ext cx="10515600" cy="1325563"/>
          </a:xfrm>
        </p:spPr>
        <p:txBody>
          <a:bodyPr/>
          <a:lstStyle/>
          <a:p>
            <a:r>
              <a:rPr lang="en-US" dirty="0"/>
              <a:t>Tier 1</a:t>
            </a:r>
          </a:p>
        </p:txBody>
      </p:sp>
      <p:graphicFrame>
        <p:nvGraphicFramePr>
          <p:cNvPr id="4" name="Content Placeholder 3">
            <a:extLst>
              <a:ext uri="{FF2B5EF4-FFF2-40B4-BE49-F238E27FC236}">
                <a16:creationId xmlns:a16="http://schemas.microsoft.com/office/drawing/2014/main" id="{CED24BBF-A676-9B2E-5D51-42D58CDBFFB7}"/>
              </a:ext>
            </a:extLst>
          </p:cNvPr>
          <p:cNvGraphicFramePr>
            <a:graphicFrameLocks noGrp="1"/>
          </p:cNvGraphicFramePr>
          <p:nvPr>
            <p:ph idx="1"/>
            <p:extLst>
              <p:ext uri="{D42A27DB-BD31-4B8C-83A1-F6EECF244321}">
                <p14:modId xmlns:p14="http://schemas.microsoft.com/office/powerpoint/2010/main" val="1647115317"/>
              </p:ext>
            </p:extLst>
          </p:nvPr>
        </p:nvGraphicFramePr>
        <p:xfrm>
          <a:off x="838200" y="1111641"/>
          <a:ext cx="10515600" cy="2199640"/>
        </p:xfrm>
        <a:graphic>
          <a:graphicData uri="http://schemas.openxmlformats.org/drawingml/2006/table">
            <a:tbl>
              <a:tblPr firstRow="1" bandRow="1">
                <a:tableStyleId>{5C22544A-7EE6-4342-B048-85BDC9FD1C3A}</a:tableStyleId>
              </a:tblPr>
              <a:tblGrid>
                <a:gridCol w="1051560">
                  <a:extLst>
                    <a:ext uri="{9D8B030D-6E8A-4147-A177-3AD203B41FA5}">
                      <a16:colId xmlns:a16="http://schemas.microsoft.com/office/drawing/2014/main" val="1401879311"/>
                    </a:ext>
                  </a:extLst>
                </a:gridCol>
                <a:gridCol w="1103961">
                  <a:extLst>
                    <a:ext uri="{9D8B030D-6E8A-4147-A177-3AD203B41FA5}">
                      <a16:colId xmlns:a16="http://schemas.microsoft.com/office/drawing/2014/main" val="4034152867"/>
                    </a:ext>
                  </a:extLst>
                </a:gridCol>
                <a:gridCol w="999159">
                  <a:extLst>
                    <a:ext uri="{9D8B030D-6E8A-4147-A177-3AD203B41FA5}">
                      <a16:colId xmlns:a16="http://schemas.microsoft.com/office/drawing/2014/main" val="1572300330"/>
                    </a:ext>
                  </a:extLst>
                </a:gridCol>
                <a:gridCol w="1556150">
                  <a:extLst>
                    <a:ext uri="{9D8B030D-6E8A-4147-A177-3AD203B41FA5}">
                      <a16:colId xmlns:a16="http://schemas.microsoft.com/office/drawing/2014/main" val="1173081815"/>
                    </a:ext>
                  </a:extLst>
                </a:gridCol>
                <a:gridCol w="1365337">
                  <a:extLst>
                    <a:ext uri="{9D8B030D-6E8A-4147-A177-3AD203B41FA5}">
                      <a16:colId xmlns:a16="http://schemas.microsoft.com/office/drawing/2014/main" val="1096322877"/>
                    </a:ext>
                  </a:extLst>
                </a:gridCol>
                <a:gridCol w="964504">
                  <a:extLst>
                    <a:ext uri="{9D8B030D-6E8A-4147-A177-3AD203B41FA5}">
                      <a16:colId xmlns:a16="http://schemas.microsoft.com/office/drawing/2014/main" val="3199580257"/>
                    </a:ext>
                  </a:extLst>
                </a:gridCol>
                <a:gridCol w="751562">
                  <a:extLst>
                    <a:ext uri="{9D8B030D-6E8A-4147-A177-3AD203B41FA5}">
                      <a16:colId xmlns:a16="http://schemas.microsoft.com/office/drawing/2014/main" val="234839993"/>
                    </a:ext>
                  </a:extLst>
                </a:gridCol>
                <a:gridCol w="839244">
                  <a:extLst>
                    <a:ext uri="{9D8B030D-6E8A-4147-A177-3AD203B41FA5}">
                      <a16:colId xmlns:a16="http://schemas.microsoft.com/office/drawing/2014/main" val="4119221714"/>
                    </a:ext>
                  </a:extLst>
                </a:gridCol>
                <a:gridCol w="1027134">
                  <a:extLst>
                    <a:ext uri="{9D8B030D-6E8A-4147-A177-3AD203B41FA5}">
                      <a16:colId xmlns:a16="http://schemas.microsoft.com/office/drawing/2014/main" val="2132151298"/>
                    </a:ext>
                  </a:extLst>
                </a:gridCol>
                <a:gridCol w="856989">
                  <a:extLst>
                    <a:ext uri="{9D8B030D-6E8A-4147-A177-3AD203B41FA5}">
                      <a16:colId xmlns:a16="http://schemas.microsoft.com/office/drawing/2014/main" val="4021367676"/>
                    </a:ext>
                  </a:extLst>
                </a:gridCol>
              </a:tblGrid>
              <a:tr h="370840">
                <a:tc>
                  <a:txBody>
                    <a:bodyPr/>
                    <a:lstStyle/>
                    <a:p>
                      <a:endParaRPr lang="en-US"/>
                    </a:p>
                  </a:txBody>
                  <a:tcPr/>
                </a:tc>
                <a:tc>
                  <a:txBody>
                    <a:bodyPr/>
                    <a:lstStyle/>
                    <a:p>
                      <a:r>
                        <a:rPr lang="en-US" dirty="0"/>
                        <a:t>STATEFIP</a:t>
                      </a:r>
                    </a:p>
                  </a:txBody>
                  <a:tcPr/>
                </a:tc>
                <a:tc>
                  <a:txBody>
                    <a:bodyPr/>
                    <a:lstStyle/>
                    <a:p>
                      <a:r>
                        <a:rPr lang="en-US" dirty="0"/>
                        <a:t>METRO</a:t>
                      </a:r>
                    </a:p>
                  </a:txBody>
                  <a:tcPr/>
                </a:tc>
                <a:tc>
                  <a:txBody>
                    <a:bodyPr/>
                    <a:lstStyle/>
                    <a:p>
                      <a:r>
                        <a:rPr lang="en-US" sz="1800" dirty="0"/>
                        <a:t>OWNERSHPD</a:t>
                      </a:r>
                    </a:p>
                  </a:txBody>
                  <a:tcPr/>
                </a:tc>
                <a:tc>
                  <a:txBody>
                    <a:bodyPr/>
                    <a:lstStyle/>
                    <a:p>
                      <a:r>
                        <a:rPr lang="en-US" dirty="0"/>
                        <a:t>MORTGAGE</a:t>
                      </a:r>
                    </a:p>
                  </a:txBody>
                  <a:tcPr/>
                </a:tc>
                <a:tc>
                  <a:txBody>
                    <a:bodyPr/>
                    <a:lstStyle/>
                    <a:p>
                      <a:r>
                        <a:rPr lang="en-US" dirty="0"/>
                        <a:t>NCHILD</a:t>
                      </a:r>
                    </a:p>
                  </a:txBody>
                  <a:tcPr/>
                </a:tc>
                <a:tc>
                  <a:txBody>
                    <a:bodyPr/>
                    <a:lstStyle/>
                    <a:p>
                      <a:r>
                        <a:rPr lang="en-US" dirty="0"/>
                        <a:t>SEX</a:t>
                      </a:r>
                    </a:p>
                  </a:txBody>
                  <a:tcPr/>
                </a:tc>
                <a:tc>
                  <a:txBody>
                    <a:bodyPr/>
                    <a:lstStyle/>
                    <a:p>
                      <a:r>
                        <a:rPr lang="en-US" dirty="0"/>
                        <a:t>AGE</a:t>
                      </a:r>
                    </a:p>
                  </a:txBody>
                  <a:tcPr/>
                </a:tc>
                <a:tc>
                  <a:txBody>
                    <a:bodyPr/>
                    <a:lstStyle/>
                    <a:p>
                      <a:r>
                        <a:rPr lang="en-US" dirty="0"/>
                        <a:t>MARST</a:t>
                      </a:r>
                    </a:p>
                  </a:txBody>
                  <a:tcPr/>
                </a:tc>
                <a:tc>
                  <a:txBody>
                    <a:bodyPr/>
                    <a:lstStyle/>
                    <a:p>
                      <a:r>
                        <a:rPr lang="en-US" dirty="0"/>
                        <a:t>RACE</a:t>
                      </a:r>
                    </a:p>
                  </a:txBody>
                  <a:tcPr/>
                </a:tc>
                <a:extLst>
                  <a:ext uri="{0D108BD9-81ED-4DB2-BD59-A6C34878D82A}">
                    <a16:rowId xmlns:a16="http://schemas.microsoft.com/office/drawing/2014/main" val="514064496"/>
                  </a:ext>
                </a:extLst>
              </a:tr>
              <a:tr h="370840">
                <a:tc>
                  <a:txBody>
                    <a:bodyPr/>
                    <a:lstStyle/>
                    <a:p>
                      <a:r>
                        <a:rPr lang="en-US" dirty="0"/>
                        <a:t>FIRST:</a:t>
                      </a:r>
                    </a:p>
                  </a:txBody>
                  <a:tcPr/>
                </a:tc>
                <a:tc>
                  <a:txBody>
                    <a:bodyPr/>
                    <a:lstStyle/>
                    <a:p>
                      <a:r>
                        <a:rPr lang="en-US" dirty="0">
                          <a:highlight>
                            <a:srgbClr val="FFFF00"/>
                          </a:highlight>
                        </a:rPr>
                        <a:t>California</a:t>
                      </a:r>
                    </a:p>
                  </a:txBody>
                  <a:tcPr/>
                </a:tc>
                <a:tc>
                  <a:txBody>
                    <a:bodyPr/>
                    <a:lstStyle/>
                    <a:p>
                      <a:r>
                        <a:rPr lang="en-US" dirty="0"/>
                        <a:t>Mixed</a:t>
                      </a:r>
                    </a:p>
                  </a:txBody>
                  <a:tcPr/>
                </a:tc>
                <a:tc>
                  <a:txBody>
                    <a:bodyPr/>
                    <a:lstStyle/>
                    <a:p>
                      <a:r>
                        <a:rPr lang="en-US" dirty="0"/>
                        <a:t>Own w/ mortgage</a:t>
                      </a:r>
                    </a:p>
                  </a:txBody>
                  <a:tcPr/>
                </a:tc>
                <a:tc>
                  <a:txBody>
                    <a:bodyPr/>
                    <a:lstStyle/>
                    <a:p>
                      <a:r>
                        <a:rPr lang="en-US" dirty="0"/>
                        <a:t>Have mortgage</a:t>
                      </a:r>
                    </a:p>
                  </a:txBody>
                  <a:tcPr/>
                </a:tc>
                <a:tc>
                  <a:txBody>
                    <a:bodyPr/>
                    <a:lstStyle/>
                    <a:p>
                      <a:r>
                        <a:rPr lang="en-US" dirty="0"/>
                        <a:t>X</a:t>
                      </a:r>
                    </a:p>
                  </a:txBody>
                  <a:tcPr/>
                </a:tc>
                <a:tc>
                  <a:txBody>
                    <a:bodyPr/>
                    <a:lstStyle/>
                    <a:p>
                      <a:r>
                        <a:rPr lang="en-US" dirty="0"/>
                        <a:t>X</a:t>
                      </a:r>
                    </a:p>
                  </a:txBody>
                  <a:tcPr/>
                </a:tc>
                <a:tc>
                  <a:txBody>
                    <a:bodyPr/>
                    <a:lstStyle/>
                    <a:p>
                      <a:r>
                        <a:rPr lang="en-US" dirty="0"/>
                        <a:t>X</a:t>
                      </a:r>
                    </a:p>
                  </a:txBody>
                  <a:tcPr/>
                </a:tc>
                <a:tc>
                  <a:txBody>
                    <a:bodyPr/>
                    <a:lstStyle/>
                    <a:p>
                      <a:r>
                        <a:rPr lang="en-US" dirty="0">
                          <a:highlight>
                            <a:srgbClr val="FFFF00"/>
                          </a:highlight>
                        </a:rPr>
                        <a:t>Single</a:t>
                      </a:r>
                    </a:p>
                  </a:txBody>
                  <a:tcPr/>
                </a:tc>
                <a:tc>
                  <a:txBody>
                    <a:bodyPr/>
                    <a:lstStyle/>
                    <a:p>
                      <a:r>
                        <a:rPr lang="en-US" dirty="0"/>
                        <a:t>X</a:t>
                      </a:r>
                    </a:p>
                  </a:txBody>
                  <a:tcPr/>
                </a:tc>
                <a:extLst>
                  <a:ext uri="{0D108BD9-81ED-4DB2-BD59-A6C34878D82A}">
                    <a16:rowId xmlns:a16="http://schemas.microsoft.com/office/drawing/2014/main" val="3214955533"/>
                  </a:ext>
                </a:extLst>
              </a:tr>
              <a:tr h="370840">
                <a:tc>
                  <a:txBody>
                    <a:bodyPr/>
                    <a:lstStyle/>
                    <a:p>
                      <a:r>
                        <a:rPr lang="en-US" dirty="0"/>
                        <a:t>SECOND:</a:t>
                      </a:r>
                    </a:p>
                  </a:txBody>
                  <a:tcPr/>
                </a:tc>
                <a:tc>
                  <a:txBody>
                    <a:bodyPr/>
                    <a:lstStyle/>
                    <a:p>
                      <a:r>
                        <a:rPr lang="en-US" dirty="0">
                          <a:highlight>
                            <a:srgbClr val="FFFF00"/>
                          </a:highlight>
                        </a:rPr>
                        <a:t>Hawaii, Ohio, South Dakota</a:t>
                      </a:r>
                    </a:p>
                  </a:txBody>
                  <a:tcPr/>
                </a:tc>
                <a:tc>
                  <a:txBody>
                    <a:bodyPr/>
                    <a:lstStyle/>
                    <a:p>
                      <a:r>
                        <a:rPr lang="en-US" dirty="0"/>
                        <a:t>Not in metro area</a:t>
                      </a:r>
                    </a:p>
                  </a:txBody>
                  <a:tcPr/>
                </a:tc>
                <a:tc>
                  <a:txBody>
                    <a:bodyPr/>
                    <a:lstStyle/>
                    <a:p>
                      <a:r>
                        <a:rPr lang="en-US" dirty="0"/>
                        <a:t>Own free and clear</a:t>
                      </a:r>
                    </a:p>
                  </a:txBody>
                  <a:tcPr/>
                </a:tc>
                <a:tc>
                  <a:txBody>
                    <a:bodyPr/>
                    <a:lstStyle/>
                    <a:p>
                      <a:r>
                        <a:rPr lang="en-US" dirty="0"/>
                        <a:t>Own free and clear</a:t>
                      </a:r>
                    </a:p>
                  </a:txBody>
                  <a:tcPr/>
                </a:tc>
                <a:tc>
                  <a:txBody>
                    <a:bodyPr/>
                    <a:lstStyle/>
                    <a:p>
                      <a:r>
                        <a:rPr lang="en-US" dirty="0"/>
                        <a:t>X</a:t>
                      </a:r>
                    </a:p>
                  </a:txBody>
                  <a:tcPr/>
                </a:tc>
                <a:tc>
                  <a:txBody>
                    <a:bodyPr/>
                    <a:lstStyle/>
                    <a:p>
                      <a:r>
                        <a:rPr lang="en-US" dirty="0"/>
                        <a:t>X</a:t>
                      </a:r>
                    </a:p>
                  </a:txBody>
                  <a:tcPr/>
                </a:tc>
                <a:tc>
                  <a:txBody>
                    <a:bodyPr/>
                    <a:lstStyle/>
                    <a:p>
                      <a:r>
                        <a:rPr lang="en-US" dirty="0"/>
                        <a:t>X</a:t>
                      </a:r>
                    </a:p>
                  </a:txBody>
                  <a:tcPr/>
                </a:tc>
                <a:tc>
                  <a:txBody>
                    <a:bodyPr/>
                    <a:lstStyle/>
                    <a:p>
                      <a:r>
                        <a:rPr lang="en-US" dirty="0"/>
                        <a:t>Married</a:t>
                      </a:r>
                    </a:p>
                  </a:txBody>
                  <a:tcPr/>
                </a:tc>
                <a:tc>
                  <a:txBody>
                    <a:bodyPr/>
                    <a:lstStyle/>
                    <a:p>
                      <a:r>
                        <a:rPr lang="en-US" dirty="0"/>
                        <a:t>X</a:t>
                      </a:r>
                    </a:p>
                  </a:txBody>
                  <a:tcPr/>
                </a:tc>
                <a:extLst>
                  <a:ext uri="{0D108BD9-81ED-4DB2-BD59-A6C34878D82A}">
                    <a16:rowId xmlns:a16="http://schemas.microsoft.com/office/drawing/2014/main" val="2627619954"/>
                  </a:ext>
                </a:extLst>
              </a:tr>
            </a:tbl>
          </a:graphicData>
        </a:graphic>
      </p:graphicFrame>
      <p:graphicFrame>
        <p:nvGraphicFramePr>
          <p:cNvPr id="5" name="Table 4">
            <a:extLst>
              <a:ext uri="{FF2B5EF4-FFF2-40B4-BE49-F238E27FC236}">
                <a16:creationId xmlns:a16="http://schemas.microsoft.com/office/drawing/2014/main" id="{9667D902-3854-DAE6-6CDD-314F37D5C398}"/>
              </a:ext>
            </a:extLst>
          </p:cNvPr>
          <p:cNvGraphicFramePr>
            <a:graphicFrameLocks noGrp="1"/>
          </p:cNvGraphicFramePr>
          <p:nvPr>
            <p:extLst>
              <p:ext uri="{D42A27DB-BD31-4B8C-83A1-F6EECF244321}">
                <p14:modId xmlns:p14="http://schemas.microsoft.com/office/powerpoint/2010/main" val="2161966060"/>
              </p:ext>
            </p:extLst>
          </p:nvPr>
        </p:nvGraphicFramePr>
        <p:xfrm>
          <a:off x="838200" y="3546720"/>
          <a:ext cx="10515600" cy="1651000"/>
        </p:xfrm>
        <a:graphic>
          <a:graphicData uri="http://schemas.openxmlformats.org/drawingml/2006/table">
            <a:tbl>
              <a:tblPr firstRow="1" bandRow="1">
                <a:tableStyleId>{5C22544A-7EE6-4342-B048-85BDC9FD1C3A}</a:tableStyleId>
              </a:tblPr>
              <a:tblGrid>
                <a:gridCol w="1051560">
                  <a:extLst>
                    <a:ext uri="{9D8B030D-6E8A-4147-A177-3AD203B41FA5}">
                      <a16:colId xmlns:a16="http://schemas.microsoft.com/office/drawing/2014/main" val="1961733583"/>
                    </a:ext>
                  </a:extLst>
                </a:gridCol>
                <a:gridCol w="903545">
                  <a:extLst>
                    <a:ext uri="{9D8B030D-6E8A-4147-A177-3AD203B41FA5}">
                      <a16:colId xmlns:a16="http://schemas.microsoft.com/office/drawing/2014/main" val="761595598"/>
                    </a:ext>
                  </a:extLst>
                </a:gridCol>
                <a:gridCol w="926926">
                  <a:extLst>
                    <a:ext uri="{9D8B030D-6E8A-4147-A177-3AD203B41FA5}">
                      <a16:colId xmlns:a16="http://schemas.microsoft.com/office/drawing/2014/main" val="3171125857"/>
                    </a:ext>
                  </a:extLst>
                </a:gridCol>
                <a:gridCol w="1102291">
                  <a:extLst>
                    <a:ext uri="{9D8B030D-6E8A-4147-A177-3AD203B41FA5}">
                      <a16:colId xmlns:a16="http://schemas.microsoft.com/office/drawing/2014/main" val="691834701"/>
                    </a:ext>
                  </a:extLst>
                </a:gridCol>
                <a:gridCol w="1064712">
                  <a:extLst>
                    <a:ext uri="{9D8B030D-6E8A-4147-A177-3AD203B41FA5}">
                      <a16:colId xmlns:a16="http://schemas.microsoft.com/office/drawing/2014/main" val="3750288309"/>
                    </a:ext>
                  </a:extLst>
                </a:gridCol>
                <a:gridCol w="1260326">
                  <a:extLst>
                    <a:ext uri="{9D8B030D-6E8A-4147-A177-3AD203B41FA5}">
                      <a16:colId xmlns:a16="http://schemas.microsoft.com/office/drawing/2014/main" val="1017217567"/>
                    </a:ext>
                  </a:extLst>
                </a:gridCol>
                <a:gridCol w="1207301">
                  <a:extLst>
                    <a:ext uri="{9D8B030D-6E8A-4147-A177-3AD203B41FA5}">
                      <a16:colId xmlns:a16="http://schemas.microsoft.com/office/drawing/2014/main" val="2250140770"/>
                    </a:ext>
                  </a:extLst>
                </a:gridCol>
                <a:gridCol w="1102291">
                  <a:extLst>
                    <a:ext uri="{9D8B030D-6E8A-4147-A177-3AD203B41FA5}">
                      <a16:colId xmlns:a16="http://schemas.microsoft.com/office/drawing/2014/main" val="1541954138"/>
                    </a:ext>
                  </a:extLst>
                </a:gridCol>
                <a:gridCol w="845088">
                  <a:extLst>
                    <a:ext uri="{9D8B030D-6E8A-4147-A177-3AD203B41FA5}">
                      <a16:colId xmlns:a16="http://schemas.microsoft.com/office/drawing/2014/main" val="3966962661"/>
                    </a:ext>
                  </a:extLst>
                </a:gridCol>
                <a:gridCol w="1051560">
                  <a:extLst>
                    <a:ext uri="{9D8B030D-6E8A-4147-A177-3AD203B41FA5}">
                      <a16:colId xmlns:a16="http://schemas.microsoft.com/office/drawing/2014/main" val="192102192"/>
                    </a:ext>
                  </a:extLst>
                </a:gridCol>
              </a:tblGrid>
              <a:tr h="370840">
                <a:tc>
                  <a:txBody>
                    <a:bodyPr/>
                    <a:lstStyle/>
                    <a:p>
                      <a:endParaRPr lang="en-US"/>
                    </a:p>
                  </a:txBody>
                  <a:tcPr/>
                </a:tc>
                <a:tc>
                  <a:txBody>
                    <a:bodyPr/>
                    <a:lstStyle/>
                    <a:p>
                      <a:r>
                        <a:rPr lang="en-US" dirty="0"/>
                        <a:t>HISPAN</a:t>
                      </a:r>
                    </a:p>
                  </a:txBody>
                  <a:tcPr/>
                </a:tc>
                <a:tc>
                  <a:txBody>
                    <a:bodyPr/>
                    <a:lstStyle/>
                    <a:p>
                      <a:r>
                        <a:rPr lang="en-US" dirty="0"/>
                        <a:t>BPL</a:t>
                      </a:r>
                    </a:p>
                  </a:txBody>
                  <a:tcPr/>
                </a:tc>
                <a:tc>
                  <a:txBody>
                    <a:bodyPr/>
                    <a:lstStyle/>
                    <a:p>
                      <a:r>
                        <a:rPr lang="en-US" dirty="0"/>
                        <a:t>CITIZEN</a:t>
                      </a:r>
                    </a:p>
                  </a:txBody>
                  <a:tcPr/>
                </a:tc>
                <a:tc>
                  <a:txBody>
                    <a:bodyPr/>
                    <a:lstStyle/>
                    <a:p>
                      <a:r>
                        <a:rPr lang="en-US" dirty="0"/>
                        <a:t>YRSUSA1</a:t>
                      </a:r>
                    </a:p>
                  </a:txBody>
                  <a:tcPr/>
                </a:tc>
                <a:tc>
                  <a:txBody>
                    <a:bodyPr/>
                    <a:lstStyle/>
                    <a:p>
                      <a:r>
                        <a:rPr lang="en-US" dirty="0"/>
                        <a:t>LANGUAGE</a:t>
                      </a:r>
                    </a:p>
                  </a:txBody>
                  <a:tcPr/>
                </a:tc>
                <a:tc>
                  <a:txBody>
                    <a:bodyPr/>
                    <a:lstStyle/>
                    <a:p>
                      <a:r>
                        <a:rPr lang="en-US" dirty="0"/>
                        <a:t>SPEAKENG</a:t>
                      </a:r>
                    </a:p>
                  </a:txBody>
                  <a:tcPr/>
                </a:tc>
                <a:tc>
                  <a:txBody>
                    <a:bodyPr/>
                    <a:lstStyle/>
                    <a:p>
                      <a:r>
                        <a:rPr lang="en-US" dirty="0"/>
                        <a:t>SCHOOL</a:t>
                      </a:r>
                    </a:p>
                  </a:txBody>
                  <a:tcPr/>
                </a:tc>
                <a:tc>
                  <a:txBody>
                    <a:bodyPr/>
                    <a:lstStyle/>
                    <a:p>
                      <a:r>
                        <a:rPr lang="en-US" dirty="0"/>
                        <a:t>EDUC</a:t>
                      </a:r>
                    </a:p>
                  </a:txBody>
                  <a:tcPr/>
                </a:tc>
                <a:tc>
                  <a:txBody>
                    <a:bodyPr/>
                    <a:lstStyle/>
                    <a:p>
                      <a:r>
                        <a:rPr lang="en-US" dirty="0"/>
                        <a:t>EMPSTAT</a:t>
                      </a:r>
                    </a:p>
                  </a:txBody>
                  <a:tcPr/>
                </a:tc>
                <a:extLst>
                  <a:ext uri="{0D108BD9-81ED-4DB2-BD59-A6C34878D82A}">
                    <a16:rowId xmlns:a16="http://schemas.microsoft.com/office/drawing/2014/main" val="3003117889"/>
                  </a:ext>
                </a:extLst>
              </a:tr>
              <a:tr h="370840">
                <a:tc>
                  <a:txBody>
                    <a:bodyPr/>
                    <a:lstStyle/>
                    <a:p>
                      <a:r>
                        <a:rPr lang="en-US" dirty="0"/>
                        <a:t>FIRST:</a:t>
                      </a:r>
                    </a:p>
                  </a:txBody>
                  <a:tcPr/>
                </a:tc>
                <a:tc>
                  <a:txBody>
                    <a:bodyPr/>
                    <a:lstStyle/>
                    <a:p>
                      <a:r>
                        <a:rPr lang="en-US" dirty="0"/>
                        <a:t>X</a:t>
                      </a:r>
                    </a:p>
                  </a:txBody>
                  <a:tcPr/>
                </a:tc>
                <a:tc>
                  <a:txBody>
                    <a:bodyPr/>
                    <a:lstStyle/>
                    <a:p>
                      <a:r>
                        <a:rPr lang="en-US" dirty="0"/>
                        <a:t>X</a:t>
                      </a:r>
                    </a:p>
                  </a:txBody>
                  <a:tcPr/>
                </a:tc>
                <a:tc>
                  <a:txBody>
                    <a:bodyPr/>
                    <a:lstStyle/>
                    <a:p>
                      <a:r>
                        <a:rPr lang="en-US" dirty="0">
                          <a:highlight>
                            <a:srgbClr val="FF0000"/>
                          </a:highlight>
                        </a:rPr>
                        <a:t>Born</a:t>
                      </a:r>
                    </a:p>
                  </a:txBody>
                  <a:tcPr/>
                </a:tc>
                <a:tc>
                  <a:txBody>
                    <a:bodyPr/>
                    <a:lstStyle/>
                    <a:p>
                      <a:r>
                        <a:rPr lang="en-US" dirty="0"/>
                        <a:t>X</a:t>
                      </a:r>
                    </a:p>
                  </a:txBody>
                  <a:tcPr/>
                </a:tc>
                <a:tc>
                  <a:txBody>
                    <a:bodyPr/>
                    <a:lstStyle/>
                    <a:p>
                      <a:r>
                        <a:rPr lang="en-US" dirty="0">
                          <a:highlight>
                            <a:srgbClr val="FFFF00"/>
                          </a:highlight>
                        </a:rPr>
                        <a:t>Arabic</a:t>
                      </a:r>
                    </a:p>
                  </a:txBody>
                  <a:tcPr/>
                </a:tc>
                <a:tc>
                  <a:txBody>
                    <a:bodyPr/>
                    <a:lstStyle/>
                    <a:p>
                      <a:r>
                        <a:rPr lang="en-US" dirty="0">
                          <a:highlight>
                            <a:srgbClr val="FF0000"/>
                          </a:highlight>
                        </a:rPr>
                        <a:t>No English</a:t>
                      </a:r>
                    </a:p>
                  </a:txBody>
                  <a:tcPr/>
                </a:tc>
                <a:tc>
                  <a:txBody>
                    <a:bodyPr/>
                    <a:lstStyle/>
                    <a:p>
                      <a:r>
                        <a:rPr lang="en-US" dirty="0">
                          <a:highlight>
                            <a:srgbClr val="FFFF00"/>
                          </a:highlight>
                        </a:rPr>
                        <a:t>In School</a:t>
                      </a:r>
                    </a:p>
                  </a:txBody>
                  <a:tcPr/>
                </a:tc>
                <a:tc>
                  <a:txBody>
                    <a:bodyPr/>
                    <a:lstStyle/>
                    <a:p>
                      <a:r>
                        <a:rPr lang="en-US" dirty="0">
                          <a:highlight>
                            <a:srgbClr val="FFFF00"/>
                          </a:highlight>
                        </a:rPr>
                        <a:t>1 year, college</a:t>
                      </a:r>
                    </a:p>
                  </a:txBody>
                  <a:tcPr/>
                </a:tc>
                <a:tc>
                  <a:txBody>
                    <a:bodyPr/>
                    <a:lstStyle/>
                    <a:p>
                      <a:r>
                        <a:rPr lang="en-US" sz="1400" dirty="0">
                          <a:highlight>
                            <a:srgbClr val="FF0000"/>
                          </a:highlight>
                        </a:rPr>
                        <a:t>Not in labor force</a:t>
                      </a:r>
                    </a:p>
                  </a:txBody>
                  <a:tcPr/>
                </a:tc>
                <a:extLst>
                  <a:ext uri="{0D108BD9-81ED-4DB2-BD59-A6C34878D82A}">
                    <a16:rowId xmlns:a16="http://schemas.microsoft.com/office/drawing/2014/main" val="3745944500"/>
                  </a:ext>
                </a:extLst>
              </a:tr>
              <a:tr h="370840">
                <a:tc>
                  <a:txBody>
                    <a:bodyPr/>
                    <a:lstStyle/>
                    <a:p>
                      <a:r>
                        <a:rPr lang="en-US" dirty="0"/>
                        <a:t>SECOND:</a:t>
                      </a:r>
                    </a:p>
                  </a:txBody>
                  <a:tcPr/>
                </a:tc>
                <a:tc>
                  <a:txBody>
                    <a:bodyPr/>
                    <a:lstStyle/>
                    <a:p>
                      <a:r>
                        <a:rPr lang="en-US" dirty="0"/>
                        <a:t>X</a:t>
                      </a:r>
                    </a:p>
                  </a:txBody>
                  <a:tcPr/>
                </a:tc>
                <a:tc>
                  <a:txBody>
                    <a:bodyPr/>
                    <a:lstStyle/>
                    <a:p>
                      <a:r>
                        <a:rPr lang="en-US" dirty="0"/>
                        <a:t>X</a:t>
                      </a:r>
                    </a:p>
                  </a:txBody>
                  <a:tcPr/>
                </a:tc>
                <a:tc>
                  <a:txBody>
                    <a:bodyPr/>
                    <a:lstStyle/>
                    <a:p>
                      <a:r>
                        <a:rPr lang="en-US" dirty="0"/>
                        <a:t>Naturalized</a:t>
                      </a:r>
                    </a:p>
                  </a:txBody>
                  <a:tcPr/>
                </a:tc>
                <a:tc>
                  <a:txBody>
                    <a:bodyPr/>
                    <a:lstStyle/>
                    <a:p>
                      <a:r>
                        <a:rPr lang="en-US" dirty="0"/>
                        <a:t>X</a:t>
                      </a:r>
                    </a:p>
                  </a:txBody>
                  <a:tcPr/>
                </a:tc>
                <a:tc>
                  <a:txBody>
                    <a:bodyPr/>
                    <a:lstStyle/>
                    <a:p>
                      <a:r>
                        <a:rPr lang="en-US" dirty="0">
                          <a:highlight>
                            <a:srgbClr val="FFFF00"/>
                          </a:highlight>
                        </a:rPr>
                        <a:t>Chinese</a:t>
                      </a:r>
                    </a:p>
                  </a:txBody>
                  <a:tcPr/>
                </a:tc>
                <a:tc>
                  <a:txBody>
                    <a:bodyPr/>
                    <a:lstStyle/>
                    <a:p>
                      <a:r>
                        <a:rPr lang="en-US" dirty="0">
                          <a:highlight>
                            <a:srgbClr val="FFFF00"/>
                          </a:highlight>
                        </a:rPr>
                        <a:t>Speaks well</a:t>
                      </a:r>
                    </a:p>
                  </a:txBody>
                  <a:tcPr/>
                </a:tc>
                <a:tc>
                  <a:txBody>
                    <a:bodyPr/>
                    <a:lstStyle/>
                    <a:p>
                      <a:endParaRPr lang="en-US"/>
                    </a:p>
                  </a:txBody>
                  <a:tcPr/>
                </a:tc>
                <a:tc>
                  <a:txBody>
                    <a:bodyPr/>
                    <a:lstStyle/>
                    <a:p>
                      <a:r>
                        <a:rPr lang="en-US" dirty="0"/>
                        <a:t>High school</a:t>
                      </a:r>
                    </a:p>
                  </a:txBody>
                  <a:tcPr/>
                </a:tc>
                <a:tc>
                  <a:txBody>
                    <a:bodyPr/>
                    <a:lstStyle/>
                    <a:p>
                      <a:r>
                        <a:rPr lang="en-US" dirty="0"/>
                        <a:t>Employed</a:t>
                      </a:r>
                    </a:p>
                  </a:txBody>
                  <a:tcPr/>
                </a:tc>
                <a:extLst>
                  <a:ext uri="{0D108BD9-81ED-4DB2-BD59-A6C34878D82A}">
                    <a16:rowId xmlns:a16="http://schemas.microsoft.com/office/drawing/2014/main" val="3956599917"/>
                  </a:ext>
                </a:extLst>
              </a:tr>
            </a:tbl>
          </a:graphicData>
        </a:graphic>
      </p:graphicFrame>
      <p:graphicFrame>
        <p:nvGraphicFramePr>
          <p:cNvPr id="7" name="Table 6">
            <a:extLst>
              <a:ext uri="{FF2B5EF4-FFF2-40B4-BE49-F238E27FC236}">
                <a16:creationId xmlns:a16="http://schemas.microsoft.com/office/drawing/2014/main" id="{0A48B339-23CC-A4B1-E809-581CCAE23567}"/>
              </a:ext>
            </a:extLst>
          </p:cNvPr>
          <p:cNvGraphicFramePr>
            <a:graphicFrameLocks noGrp="1"/>
          </p:cNvGraphicFramePr>
          <p:nvPr>
            <p:extLst>
              <p:ext uri="{D42A27DB-BD31-4B8C-83A1-F6EECF244321}">
                <p14:modId xmlns:p14="http://schemas.microsoft.com/office/powerpoint/2010/main" val="1938426485"/>
              </p:ext>
            </p:extLst>
          </p:nvPr>
        </p:nvGraphicFramePr>
        <p:xfrm>
          <a:off x="838200" y="5370578"/>
          <a:ext cx="8128000" cy="111252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731738058"/>
                    </a:ext>
                  </a:extLst>
                </a:gridCol>
                <a:gridCol w="1625600">
                  <a:extLst>
                    <a:ext uri="{9D8B030D-6E8A-4147-A177-3AD203B41FA5}">
                      <a16:colId xmlns:a16="http://schemas.microsoft.com/office/drawing/2014/main" val="3136648509"/>
                    </a:ext>
                  </a:extLst>
                </a:gridCol>
                <a:gridCol w="1625600">
                  <a:extLst>
                    <a:ext uri="{9D8B030D-6E8A-4147-A177-3AD203B41FA5}">
                      <a16:colId xmlns:a16="http://schemas.microsoft.com/office/drawing/2014/main" val="2020283136"/>
                    </a:ext>
                  </a:extLst>
                </a:gridCol>
                <a:gridCol w="1625600">
                  <a:extLst>
                    <a:ext uri="{9D8B030D-6E8A-4147-A177-3AD203B41FA5}">
                      <a16:colId xmlns:a16="http://schemas.microsoft.com/office/drawing/2014/main" val="1995222916"/>
                    </a:ext>
                  </a:extLst>
                </a:gridCol>
                <a:gridCol w="1625600">
                  <a:extLst>
                    <a:ext uri="{9D8B030D-6E8A-4147-A177-3AD203B41FA5}">
                      <a16:colId xmlns:a16="http://schemas.microsoft.com/office/drawing/2014/main" val="1324446383"/>
                    </a:ext>
                  </a:extLst>
                </a:gridCol>
              </a:tblGrid>
              <a:tr h="370840">
                <a:tc>
                  <a:txBody>
                    <a:bodyPr/>
                    <a:lstStyle/>
                    <a:p>
                      <a:endParaRPr lang="en-US" dirty="0"/>
                    </a:p>
                  </a:txBody>
                  <a:tcPr/>
                </a:tc>
                <a:tc>
                  <a:txBody>
                    <a:bodyPr/>
                    <a:lstStyle/>
                    <a:p>
                      <a:r>
                        <a:rPr lang="en-US" dirty="0"/>
                        <a:t>OCC</a:t>
                      </a:r>
                    </a:p>
                  </a:txBody>
                  <a:tcPr/>
                </a:tc>
                <a:tc>
                  <a:txBody>
                    <a:bodyPr/>
                    <a:lstStyle/>
                    <a:p>
                      <a:r>
                        <a:rPr lang="en-US" dirty="0"/>
                        <a:t>UHRSWORK</a:t>
                      </a:r>
                    </a:p>
                  </a:txBody>
                  <a:tcPr/>
                </a:tc>
                <a:tc>
                  <a:txBody>
                    <a:bodyPr/>
                    <a:lstStyle/>
                    <a:p>
                      <a:r>
                        <a:rPr lang="en-US" dirty="0"/>
                        <a:t>TRANWORK</a:t>
                      </a:r>
                    </a:p>
                  </a:txBody>
                  <a:tcPr/>
                </a:tc>
                <a:tc>
                  <a:txBody>
                    <a:bodyPr/>
                    <a:lstStyle/>
                    <a:p>
                      <a:r>
                        <a:rPr lang="en-US" dirty="0"/>
                        <a:t>CARPOOL</a:t>
                      </a:r>
                    </a:p>
                  </a:txBody>
                  <a:tcPr/>
                </a:tc>
                <a:extLst>
                  <a:ext uri="{0D108BD9-81ED-4DB2-BD59-A6C34878D82A}">
                    <a16:rowId xmlns:a16="http://schemas.microsoft.com/office/drawing/2014/main" val="100211684"/>
                  </a:ext>
                </a:extLst>
              </a:tr>
              <a:tr h="370840">
                <a:tc>
                  <a:txBody>
                    <a:bodyPr/>
                    <a:lstStyle/>
                    <a:p>
                      <a:r>
                        <a:rPr lang="en-US" dirty="0"/>
                        <a:t>FIRST:</a:t>
                      </a:r>
                    </a:p>
                  </a:txBody>
                  <a:tcPr/>
                </a:tc>
                <a:tc>
                  <a:txBody>
                    <a:bodyPr/>
                    <a:lstStyle/>
                    <a:p>
                      <a:r>
                        <a:rPr lang="en-US" dirty="0">
                          <a:highlight>
                            <a:srgbClr val="FFFF00"/>
                          </a:highlight>
                        </a:rPr>
                        <a:t>Healthcare</a:t>
                      </a:r>
                    </a:p>
                  </a:txBody>
                  <a:tcPr/>
                </a:tc>
                <a:tc>
                  <a:txBody>
                    <a:bodyPr/>
                    <a:lstStyle/>
                    <a:p>
                      <a:r>
                        <a:rPr lang="en-US" dirty="0"/>
                        <a:t>50</a:t>
                      </a:r>
                    </a:p>
                  </a:txBody>
                  <a:tcPr/>
                </a:tc>
                <a:tc>
                  <a:txBody>
                    <a:bodyPr/>
                    <a:lstStyle/>
                    <a:p>
                      <a:r>
                        <a:rPr lang="en-US" dirty="0">
                          <a:highlight>
                            <a:srgbClr val="FF0000"/>
                          </a:highlight>
                        </a:rPr>
                        <a:t>N/A</a:t>
                      </a:r>
                    </a:p>
                  </a:txBody>
                  <a:tcPr/>
                </a:tc>
                <a:tc>
                  <a:txBody>
                    <a:bodyPr/>
                    <a:lstStyle/>
                    <a:p>
                      <a:r>
                        <a:rPr lang="en-US" dirty="0">
                          <a:highlight>
                            <a:srgbClr val="FFFF00"/>
                          </a:highlight>
                        </a:rPr>
                        <a:t>Carpools</a:t>
                      </a:r>
                    </a:p>
                  </a:txBody>
                  <a:tcPr/>
                </a:tc>
                <a:extLst>
                  <a:ext uri="{0D108BD9-81ED-4DB2-BD59-A6C34878D82A}">
                    <a16:rowId xmlns:a16="http://schemas.microsoft.com/office/drawing/2014/main" val="359515360"/>
                  </a:ext>
                </a:extLst>
              </a:tr>
              <a:tr h="370840">
                <a:tc>
                  <a:txBody>
                    <a:bodyPr/>
                    <a:lstStyle/>
                    <a:p>
                      <a:r>
                        <a:rPr lang="en-US" dirty="0"/>
                        <a:t>SECOND:</a:t>
                      </a:r>
                    </a:p>
                  </a:txBody>
                  <a:tcPr/>
                </a:tc>
                <a:tc>
                  <a:txBody>
                    <a:bodyPr/>
                    <a:lstStyle/>
                    <a:p>
                      <a:r>
                        <a:rPr lang="en-US" dirty="0">
                          <a:highlight>
                            <a:srgbClr val="FFFF00"/>
                          </a:highlight>
                        </a:rPr>
                        <a:t>ELAM</a:t>
                      </a:r>
                    </a:p>
                  </a:txBody>
                  <a:tcPr/>
                </a:tc>
                <a:tc>
                  <a:txBody>
                    <a:bodyPr/>
                    <a:lstStyle/>
                    <a:p>
                      <a:r>
                        <a:rPr lang="en-US" dirty="0"/>
                        <a:t>80</a:t>
                      </a:r>
                    </a:p>
                  </a:txBody>
                  <a:tcPr/>
                </a:tc>
                <a:tc>
                  <a:txBody>
                    <a:bodyPr/>
                    <a:lstStyle/>
                    <a:p>
                      <a:r>
                        <a:rPr lang="en-US" dirty="0"/>
                        <a:t>N/A</a:t>
                      </a:r>
                    </a:p>
                  </a:txBody>
                  <a:tcPr/>
                </a:tc>
                <a:tc>
                  <a:txBody>
                    <a:bodyPr/>
                    <a:lstStyle/>
                    <a:p>
                      <a:r>
                        <a:rPr lang="en-US" dirty="0"/>
                        <a:t>Drives others</a:t>
                      </a:r>
                    </a:p>
                  </a:txBody>
                  <a:tcPr/>
                </a:tc>
                <a:extLst>
                  <a:ext uri="{0D108BD9-81ED-4DB2-BD59-A6C34878D82A}">
                    <a16:rowId xmlns:a16="http://schemas.microsoft.com/office/drawing/2014/main" val="2296630166"/>
                  </a:ext>
                </a:extLst>
              </a:tr>
            </a:tbl>
          </a:graphicData>
        </a:graphic>
      </p:graphicFrame>
    </p:spTree>
    <p:extLst>
      <p:ext uri="{BB962C8B-B14F-4D97-AF65-F5344CB8AC3E}">
        <p14:creationId xmlns:p14="http://schemas.microsoft.com/office/powerpoint/2010/main" val="19431186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6A458-DB66-A1C4-A359-217243394A99}"/>
              </a:ext>
            </a:extLst>
          </p:cNvPr>
          <p:cNvSpPr>
            <a:spLocks noGrp="1"/>
          </p:cNvSpPr>
          <p:nvPr>
            <p:ph type="title"/>
          </p:nvPr>
        </p:nvSpPr>
        <p:spPr>
          <a:xfrm>
            <a:off x="838199" y="147186"/>
            <a:ext cx="10515600" cy="1325563"/>
          </a:xfrm>
        </p:spPr>
        <p:txBody>
          <a:bodyPr/>
          <a:lstStyle/>
          <a:p>
            <a:r>
              <a:rPr lang="en-US" dirty="0"/>
              <a:t>Tier 4</a:t>
            </a:r>
          </a:p>
        </p:txBody>
      </p:sp>
      <p:graphicFrame>
        <p:nvGraphicFramePr>
          <p:cNvPr id="4" name="Content Placeholder 3">
            <a:extLst>
              <a:ext uri="{FF2B5EF4-FFF2-40B4-BE49-F238E27FC236}">
                <a16:creationId xmlns:a16="http://schemas.microsoft.com/office/drawing/2014/main" id="{CED24BBF-A676-9B2E-5D51-42D58CDBFFB7}"/>
              </a:ext>
            </a:extLst>
          </p:cNvPr>
          <p:cNvGraphicFramePr>
            <a:graphicFrameLocks noGrp="1"/>
          </p:cNvGraphicFramePr>
          <p:nvPr>
            <p:ph idx="1"/>
            <p:extLst>
              <p:ext uri="{D42A27DB-BD31-4B8C-83A1-F6EECF244321}">
                <p14:modId xmlns:p14="http://schemas.microsoft.com/office/powerpoint/2010/main" val="280422834"/>
              </p:ext>
            </p:extLst>
          </p:nvPr>
        </p:nvGraphicFramePr>
        <p:xfrm>
          <a:off x="838199" y="1200321"/>
          <a:ext cx="10515600" cy="1833880"/>
        </p:xfrm>
        <a:graphic>
          <a:graphicData uri="http://schemas.openxmlformats.org/drawingml/2006/table">
            <a:tbl>
              <a:tblPr firstRow="1" bandRow="1">
                <a:tableStyleId>{5C22544A-7EE6-4342-B048-85BDC9FD1C3A}</a:tableStyleId>
              </a:tblPr>
              <a:tblGrid>
                <a:gridCol w="1051560">
                  <a:extLst>
                    <a:ext uri="{9D8B030D-6E8A-4147-A177-3AD203B41FA5}">
                      <a16:colId xmlns:a16="http://schemas.microsoft.com/office/drawing/2014/main" val="1401879311"/>
                    </a:ext>
                  </a:extLst>
                </a:gridCol>
                <a:gridCol w="1051560">
                  <a:extLst>
                    <a:ext uri="{9D8B030D-6E8A-4147-A177-3AD203B41FA5}">
                      <a16:colId xmlns:a16="http://schemas.microsoft.com/office/drawing/2014/main" val="4034152867"/>
                    </a:ext>
                  </a:extLst>
                </a:gridCol>
                <a:gridCol w="1051560">
                  <a:extLst>
                    <a:ext uri="{9D8B030D-6E8A-4147-A177-3AD203B41FA5}">
                      <a16:colId xmlns:a16="http://schemas.microsoft.com/office/drawing/2014/main" val="1572300330"/>
                    </a:ext>
                  </a:extLst>
                </a:gridCol>
                <a:gridCol w="1556150">
                  <a:extLst>
                    <a:ext uri="{9D8B030D-6E8A-4147-A177-3AD203B41FA5}">
                      <a16:colId xmlns:a16="http://schemas.microsoft.com/office/drawing/2014/main" val="1173081815"/>
                    </a:ext>
                  </a:extLst>
                </a:gridCol>
                <a:gridCol w="1365337">
                  <a:extLst>
                    <a:ext uri="{9D8B030D-6E8A-4147-A177-3AD203B41FA5}">
                      <a16:colId xmlns:a16="http://schemas.microsoft.com/office/drawing/2014/main" val="1096322877"/>
                    </a:ext>
                  </a:extLst>
                </a:gridCol>
                <a:gridCol w="964504">
                  <a:extLst>
                    <a:ext uri="{9D8B030D-6E8A-4147-A177-3AD203B41FA5}">
                      <a16:colId xmlns:a16="http://schemas.microsoft.com/office/drawing/2014/main" val="3199580257"/>
                    </a:ext>
                  </a:extLst>
                </a:gridCol>
                <a:gridCol w="751562">
                  <a:extLst>
                    <a:ext uri="{9D8B030D-6E8A-4147-A177-3AD203B41FA5}">
                      <a16:colId xmlns:a16="http://schemas.microsoft.com/office/drawing/2014/main" val="234839993"/>
                    </a:ext>
                  </a:extLst>
                </a:gridCol>
                <a:gridCol w="839244">
                  <a:extLst>
                    <a:ext uri="{9D8B030D-6E8A-4147-A177-3AD203B41FA5}">
                      <a16:colId xmlns:a16="http://schemas.microsoft.com/office/drawing/2014/main" val="4119221714"/>
                    </a:ext>
                  </a:extLst>
                </a:gridCol>
                <a:gridCol w="1027134">
                  <a:extLst>
                    <a:ext uri="{9D8B030D-6E8A-4147-A177-3AD203B41FA5}">
                      <a16:colId xmlns:a16="http://schemas.microsoft.com/office/drawing/2014/main" val="2132151298"/>
                    </a:ext>
                  </a:extLst>
                </a:gridCol>
                <a:gridCol w="856989">
                  <a:extLst>
                    <a:ext uri="{9D8B030D-6E8A-4147-A177-3AD203B41FA5}">
                      <a16:colId xmlns:a16="http://schemas.microsoft.com/office/drawing/2014/main" val="4021367676"/>
                    </a:ext>
                  </a:extLst>
                </a:gridCol>
              </a:tblGrid>
              <a:tr h="370840">
                <a:tc>
                  <a:txBody>
                    <a:bodyPr/>
                    <a:lstStyle/>
                    <a:p>
                      <a:endParaRPr lang="en-US"/>
                    </a:p>
                  </a:txBody>
                  <a:tcPr/>
                </a:tc>
                <a:tc>
                  <a:txBody>
                    <a:bodyPr/>
                    <a:lstStyle/>
                    <a:p>
                      <a:r>
                        <a:rPr lang="en-US" dirty="0"/>
                        <a:t>STATEFIP</a:t>
                      </a:r>
                    </a:p>
                  </a:txBody>
                  <a:tcPr/>
                </a:tc>
                <a:tc>
                  <a:txBody>
                    <a:bodyPr/>
                    <a:lstStyle/>
                    <a:p>
                      <a:r>
                        <a:rPr lang="en-US" dirty="0"/>
                        <a:t>METRO</a:t>
                      </a:r>
                    </a:p>
                  </a:txBody>
                  <a:tcPr/>
                </a:tc>
                <a:tc>
                  <a:txBody>
                    <a:bodyPr/>
                    <a:lstStyle/>
                    <a:p>
                      <a:r>
                        <a:rPr lang="en-US" sz="1800" dirty="0"/>
                        <a:t>OWNERSHPD</a:t>
                      </a:r>
                    </a:p>
                  </a:txBody>
                  <a:tcPr/>
                </a:tc>
                <a:tc>
                  <a:txBody>
                    <a:bodyPr/>
                    <a:lstStyle/>
                    <a:p>
                      <a:r>
                        <a:rPr lang="en-US" dirty="0"/>
                        <a:t>MORTGAGE</a:t>
                      </a:r>
                    </a:p>
                  </a:txBody>
                  <a:tcPr/>
                </a:tc>
                <a:tc>
                  <a:txBody>
                    <a:bodyPr/>
                    <a:lstStyle/>
                    <a:p>
                      <a:r>
                        <a:rPr lang="en-US" dirty="0"/>
                        <a:t>NCHILD</a:t>
                      </a:r>
                    </a:p>
                  </a:txBody>
                  <a:tcPr/>
                </a:tc>
                <a:tc>
                  <a:txBody>
                    <a:bodyPr/>
                    <a:lstStyle/>
                    <a:p>
                      <a:r>
                        <a:rPr lang="en-US" dirty="0"/>
                        <a:t>SEX</a:t>
                      </a:r>
                    </a:p>
                  </a:txBody>
                  <a:tcPr/>
                </a:tc>
                <a:tc>
                  <a:txBody>
                    <a:bodyPr/>
                    <a:lstStyle/>
                    <a:p>
                      <a:r>
                        <a:rPr lang="en-US" dirty="0"/>
                        <a:t>AGE</a:t>
                      </a:r>
                    </a:p>
                  </a:txBody>
                  <a:tcPr/>
                </a:tc>
                <a:tc>
                  <a:txBody>
                    <a:bodyPr/>
                    <a:lstStyle/>
                    <a:p>
                      <a:r>
                        <a:rPr lang="en-US" dirty="0"/>
                        <a:t>MARST</a:t>
                      </a:r>
                    </a:p>
                  </a:txBody>
                  <a:tcPr/>
                </a:tc>
                <a:tc>
                  <a:txBody>
                    <a:bodyPr/>
                    <a:lstStyle/>
                    <a:p>
                      <a:r>
                        <a:rPr lang="en-US" dirty="0"/>
                        <a:t>RACE</a:t>
                      </a:r>
                    </a:p>
                  </a:txBody>
                  <a:tcPr/>
                </a:tc>
                <a:extLst>
                  <a:ext uri="{0D108BD9-81ED-4DB2-BD59-A6C34878D82A}">
                    <a16:rowId xmlns:a16="http://schemas.microsoft.com/office/drawing/2014/main" val="514064496"/>
                  </a:ext>
                </a:extLst>
              </a:tr>
              <a:tr h="370840">
                <a:tc>
                  <a:txBody>
                    <a:bodyPr/>
                    <a:lstStyle/>
                    <a:p>
                      <a:r>
                        <a:rPr lang="en-US" dirty="0"/>
                        <a:t>FIRST:</a:t>
                      </a:r>
                    </a:p>
                  </a:txBody>
                  <a:tcPr/>
                </a:tc>
                <a:tc>
                  <a:txBody>
                    <a:bodyPr/>
                    <a:lstStyle/>
                    <a:p>
                      <a:r>
                        <a:rPr lang="en-US" sz="1400" dirty="0">
                          <a:highlight>
                            <a:srgbClr val="FFFF00"/>
                          </a:highlight>
                        </a:rPr>
                        <a:t>Virginia, DC, Rhode Island</a:t>
                      </a:r>
                    </a:p>
                  </a:txBody>
                  <a:tcPr/>
                </a:tc>
                <a:tc>
                  <a:txBody>
                    <a:bodyPr/>
                    <a:lstStyle/>
                    <a:p>
                      <a:r>
                        <a:rPr lang="en-US" dirty="0"/>
                        <a:t>Suburb</a:t>
                      </a:r>
                    </a:p>
                  </a:txBody>
                  <a:tcPr/>
                </a:tc>
                <a:tc>
                  <a:txBody>
                    <a:bodyPr/>
                    <a:lstStyle/>
                    <a:p>
                      <a:r>
                        <a:rPr lang="en-US" dirty="0"/>
                        <a:t>Own / mortgage</a:t>
                      </a:r>
                    </a:p>
                  </a:txBody>
                  <a:tcPr/>
                </a:tc>
                <a:tc>
                  <a:txBody>
                    <a:bodyPr/>
                    <a:lstStyle/>
                    <a:p>
                      <a:r>
                        <a:rPr lang="en-US" dirty="0"/>
                        <a:t>Have mortgage</a:t>
                      </a:r>
                    </a:p>
                  </a:txBody>
                  <a:tcPr/>
                </a:tc>
                <a:tc>
                  <a:txBody>
                    <a:bodyPr/>
                    <a:lstStyle/>
                    <a:p>
                      <a:r>
                        <a:rPr lang="en-US" dirty="0"/>
                        <a:t>X</a:t>
                      </a:r>
                    </a:p>
                  </a:txBody>
                  <a:tcPr/>
                </a:tc>
                <a:tc>
                  <a:txBody>
                    <a:bodyPr/>
                    <a:lstStyle/>
                    <a:p>
                      <a:r>
                        <a:rPr lang="en-US" dirty="0"/>
                        <a:t>X</a:t>
                      </a:r>
                    </a:p>
                  </a:txBody>
                  <a:tcPr/>
                </a:tc>
                <a:tc>
                  <a:txBody>
                    <a:bodyPr/>
                    <a:lstStyle/>
                    <a:p>
                      <a:r>
                        <a:rPr lang="en-US" dirty="0"/>
                        <a:t>X</a:t>
                      </a:r>
                    </a:p>
                  </a:txBody>
                  <a:tcPr/>
                </a:tc>
                <a:tc>
                  <a:txBody>
                    <a:bodyPr/>
                    <a:lstStyle/>
                    <a:p>
                      <a:r>
                        <a:rPr lang="en-US" dirty="0">
                          <a:highlight>
                            <a:srgbClr val="FFFF00"/>
                          </a:highlight>
                        </a:rPr>
                        <a:t>Married</a:t>
                      </a:r>
                    </a:p>
                  </a:txBody>
                  <a:tcPr/>
                </a:tc>
                <a:tc>
                  <a:txBody>
                    <a:bodyPr/>
                    <a:lstStyle/>
                    <a:p>
                      <a:r>
                        <a:rPr lang="en-US" dirty="0"/>
                        <a:t>X</a:t>
                      </a:r>
                    </a:p>
                  </a:txBody>
                  <a:tcPr/>
                </a:tc>
                <a:extLst>
                  <a:ext uri="{0D108BD9-81ED-4DB2-BD59-A6C34878D82A}">
                    <a16:rowId xmlns:a16="http://schemas.microsoft.com/office/drawing/2014/main" val="3214955533"/>
                  </a:ext>
                </a:extLst>
              </a:tr>
              <a:tr h="370840">
                <a:tc>
                  <a:txBody>
                    <a:bodyPr/>
                    <a:lstStyle/>
                    <a:p>
                      <a:r>
                        <a:rPr lang="en-US" dirty="0"/>
                        <a:t>SECOND:</a:t>
                      </a:r>
                    </a:p>
                  </a:txBody>
                  <a:tcPr/>
                </a:tc>
                <a:tc>
                  <a:txBody>
                    <a:bodyPr/>
                    <a:lstStyle/>
                    <a:p>
                      <a:r>
                        <a:rPr lang="en-US" sz="1400" dirty="0">
                          <a:highlight>
                            <a:srgbClr val="FFFF00"/>
                          </a:highlight>
                        </a:rPr>
                        <a:t>WV, NC, MA, KS, GA, MI</a:t>
                      </a:r>
                    </a:p>
                  </a:txBody>
                  <a:tcPr/>
                </a:tc>
                <a:tc>
                  <a:txBody>
                    <a:bodyPr/>
                    <a:lstStyle/>
                    <a:p>
                      <a:r>
                        <a:rPr lang="en-US" dirty="0"/>
                        <a:t>Mixed</a:t>
                      </a:r>
                    </a:p>
                  </a:txBody>
                  <a:tcPr/>
                </a:tc>
                <a:tc>
                  <a:txBody>
                    <a:bodyPr/>
                    <a:lstStyle/>
                    <a:p>
                      <a:r>
                        <a:rPr lang="en-US" dirty="0"/>
                        <a:t>Own free and clear</a:t>
                      </a:r>
                    </a:p>
                  </a:txBody>
                  <a:tcPr/>
                </a:tc>
                <a:tc>
                  <a:txBody>
                    <a:bodyPr/>
                    <a:lstStyle/>
                    <a:p>
                      <a:r>
                        <a:rPr lang="en-US" dirty="0"/>
                        <a:t>Own free and clear</a:t>
                      </a:r>
                    </a:p>
                  </a:txBody>
                  <a:tcPr/>
                </a:tc>
                <a:tc>
                  <a:txBody>
                    <a:bodyPr/>
                    <a:lstStyle/>
                    <a:p>
                      <a:r>
                        <a:rPr lang="en-US" dirty="0"/>
                        <a:t>X</a:t>
                      </a:r>
                    </a:p>
                  </a:txBody>
                  <a:tcPr/>
                </a:tc>
                <a:tc>
                  <a:txBody>
                    <a:bodyPr/>
                    <a:lstStyle/>
                    <a:p>
                      <a:r>
                        <a:rPr lang="en-US" dirty="0"/>
                        <a:t>X</a:t>
                      </a:r>
                    </a:p>
                  </a:txBody>
                  <a:tcPr/>
                </a:tc>
                <a:tc>
                  <a:txBody>
                    <a:bodyPr/>
                    <a:lstStyle/>
                    <a:p>
                      <a:r>
                        <a:rPr lang="en-US" dirty="0"/>
                        <a:t>X</a:t>
                      </a:r>
                    </a:p>
                  </a:txBody>
                  <a:tcPr/>
                </a:tc>
                <a:tc>
                  <a:txBody>
                    <a:bodyPr/>
                    <a:lstStyle/>
                    <a:p>
                      <a:r>
                        <a:rPr lang="en-US" dirty="0">
                          <a:highlight>
                            <a:srgbClr val="FFFF00"/>
                          </a:highlight>
                        </a:rPr>
                        <a:t>Divorced</a:t>
                      </a:r>
                    </a:p>
                  </a:txBody>
                  <a:tcPr/>
                </a:tc>
                <a:tc>
                  <a:txBody>
                    <a:bodyPr/>
                    <a:lstStyle/>
                    <a:p>
                      <a:r>
                        <a:rPr lang="en-US" dirty="0"/>
                        <a:t>X</a:t>
                      </a:r>
                    </a:p>
                  </a:txBody>
                  <a:tcPr/>
                </a:tc>
                <a:extLst>
                  <a:ext uri="{0D108BD9-81ED-4DB2-BD59-A6C34878D82A}">
                    <a16:rowId xmlns:a16="http://schemas.microsoft.com/office/drawing/2014/main" val="2627619954"/>
                  </a:ext>
                </a:extLst>
              </a:tr>
            </a:tbl>
          </a:graphicData>
        </a:graphic>
      </p:graphicFrame>
      <p:graphicFrame>
        <p:nvGraphicFramePr>
          <p:cNvPr id="5" name="Table 4">
            <a:extLst>
              <a:ext uri="{FF2B5EF4-FFF2-40B4-BE49-F238E27FC236}">
                <a16:creationId xmlns:a16="http://schemas.microsoft.com/office/drawing/2014/main" id="{9667D902-3854-DAE6-6CDD-314F37D5C398}"/>
              </a:ext>
            </a:extLst>
          </p:cNvPr>
          <p:cNvGraphicFramePr>
            <a:graphicFrameLocks noGrp="1"/>
          </p:cNvGraphicFramePr>
          <p:nvPr>
            <p:extLst>
              <p:ext uri="{D42A27DB-BD31-4B8C-83A1-F6EECF244321}">
                <p14:modId xmlns:p14="http://schemas.microsoft.com/office/powerpoint/2010/main" val="288430393"/>
              </p:ext>
            </p:extLst>
          </p:nvPr>
        </p:nvGraphicFramePr>
        <p:xfrm>
          <a:off x="838199" y="3178480"/>
          <a:ext cx="10515600" cy="1651000"/>
        </p:xfrm>
        <a:graphic>
          <a:graphicData uri="http://schemas.openxmlformats.org/drawingml/2006/table">
            <a:tbl>
              <a:tblPr firstRow="1" bandRow="1">
                <a:tableStyleId>{5C22544A-7EE6-4342-B048-85BDC9FD1C3A}</a:tableStyleId>
              </a:tblPr>
              <a:tblGrid>
                <a:gridCol w="1051560">
                  <a:extLst>
                    <a:ext uri="{9D8B030D-6E8A-4147-A177-3AD203B41FA5}">
                      <a16:colId xmlns:a16="http://schemas.microsoft.com/office/drawing/2014/main" val="1961733583"/>
                    </a:ext>
                  </a:extLst>
                </a:gridCol>
                <a:gridCol w="903545">
                  <a:extLst>
                    <a:ext uri="{9D8B030D-6E8A-4147-A177-3AD203B41FA5}">
                      <a16:colId xmlns:a16="http://schemas.microsoft.com/office/drawing/2014/main" val="761595598"/>
                    </a:ext>
                  </a:extLst>
                </a:gridCol>
                <a:gridCol w="563671">
                  <a:extLst>
                    <a:ext uri="{9D8B030D-6E8A-4147-A177-3AD203B41FA5}">
                      <a16:colId xmlns:a16="http://schemas.microsoft.com/office/drawing/2014/main" val="3171125857"/>
                    </a:ext>
                  </a:extLst>
                </a:gridCol>
                <a:gridCol w="1290181">
                  <a:extLst>
                    <a:ext uri="{9D8B030D-6E8A-4147-A177-3AD203B41FA5}">
                      <a16:colId xmlns:a16="http://schemas.microsoft.com/office/drawing/2014/main" val="691834701"/>
                    </a:ext>
                  </a:extLst>
                </a:gridCol>
                <a:gridCol w="1064712">
                  <a:extLst>
                    <a:ext uri="{9D8B030D-6E8A-4147-A177-3AD203B41FA5}">
                      <a16:colId xmlns:a16="http://schemas.microsoft.com/office/drawing/2014/main" val="3750288309"/>
                    </a:ext>
                  </a:extLst>
                </a:gridCol>
                <a:gridCol w="1252603">
                  <a:extLst>
                    <a:ext uri="{9D8B030D-6E8A-4147-A177-3AD203B41FA5}">
                      <a16:colId xmlns:a16="http://schemas.microsoft.com/office/drawing/2014/main" val="1017217567"/>
                    </a:ext>
                  </a:extLst>
                </a:gridCol>
                <a:gridCol w="1202499">
                  <a:extLst>
                    <a:ext uri="{9D8B030D-6E8A-4147-A177-3AD203B41FA5}">
                      <a16:colId xmlns:a16="http://schemas.microsoft.com/office/drawing/2014/main" val="2250140770"/>
                    </a:ext>
                  </a:extLst>
                </a:gridCol>
                <a:gridCol w="989556">
                  <a:extLst>
                    <a:ext uri="{9D8B030D-6E8A-4147-A177-3AD203B41FA5}">
                      <a16:colId xmlns:a16="http://schemas.microsoft.com/office/drawing/2014/main" val="1541954138"/>
                    </a:ext>
                  </a:extLst>
                </a:gridCol>
                <a:gridCol w="1145713">
                  <a:extLst>
                    <a:ext uri="{9D8B030D-6E8A-4147-A177-3AD203B41FA5}">
                      <a16:colId xmlns:a16="http://schemas.microsoft.com/office/drawing/2014/main" val="3966962661"/>
                    </a:ext>
                  </a:extLst>
                </a:gridCol>
                <a:gridCol w="1051560">
                  <a:extLst>
                    <a:ext uri="{9D8B030D-6E8A-4147-A177-3AD203B41FA5}">
                      <a16:colId xmlns:a16="http://schemas.microsoft.com/office/drawing/2014/main" val="192102192"/>
                    </a:ext>
                  </a:extLst>
                </a:gridCol>
              </a:tblGrid>
              <a:tr h="370840">
                <a:tc>
                  <a:txBody>
                    <a:bodyPr/>
                    <a:lstStyle/>
                    <a:p>
                      <a:endParaRPr lang="en-US"/>
                    </a:p>
                  </a:txBody>
                  <a:tcPr/>
                </a:tc>
                <a:tc>
                  <a:txBody>
                    <a:bodyPr/>
                    <a:lstStyle/>
                    <a:p>
                      <a:r>
                        <a:rPr lang="en-US" dirty="0"/>
                        <a:t>HISPAN</a:t>
                      </a:r>
                    </a:p>
                  </a:txBody>
                  <a:tcPr/>
                </a:tc>
                <a:tc>
                  <a:txBody>
                    <a:bodyPr/>
                    <a:lstStyle/>
                    <a:p>
                      <a:r>
                        <a:rPr lang="en-US" dirty="0"/>
                        <a:t>BPL</a:t>
                      </a:r>
                    </a:p>
                  </a:txBody>
                  <a:tcPr/>
                </a:tc>
                <a:tc>
                  <a:txBody>
                    <a:bodyPr/>
                    <a:lstStyle/>
                    <a:p>
                      <a:r>
                        <a:rPr lang="en-US" dirty="0"/>
                        <a:t>CITIZEN</a:t>
                      </a:r>
                    </a:p>
                  </a:txBody>
                  <a:tcPr/>
                </a:tc>
                <a:tc>
                  <a:txBody>
                    <a:bodyPr/>
                    <a:lstStyle/>
                    <a:p>
                      <a:r>
                        <a:rPr lang="en-US" dirty="0"/>
                        <a:t>YRSUSA1</a:t>
                      </a:r>
                    </a:p>
                  </a:txBody>
                  <a:tcPr/>
                </a:tc>
                <a:tc>
                  <a:txBody>
                    <a:bodyPr/>
                    <a:lstStyle/>
                    <a:p>
                      <a:r>
                        <a:rPr lang="en-US" dirty="0"/>
                        <a:t>LANGUAGE</a:t>
                      </a:r>
                    </a:p>
                  </a:txBody>
                  <a:tcPr/>
                </a:tc>
                <a:tc>
                  <a:txBody>
                    <a:bodyPr/>
                    <a:lstStyle/>
                    <a:p>
                      <a:r>
                        <a:rPr lang="en-US" dirty="0"/>
                        <a:t>SPEAKENG</a:t>
                      </a:r>
                    </a:p>
                  </a:txBody>
                  <a:tcPr/>
                </a:tc>
                <a:tc>
                  <a:txBody>
                    <a:bodyPr/>
                    <a:lstStyle/>
                    <a:p>
                      <a:r>
                        <a:rPr lang="en-US" dirty="0"/>
                        <a:t>SCHOOL</a:t>
                      </a:r>
                    </a:p>
                  </a:txBody>
                  <a:tcPr/>
                </a:tc>
                <a:tc>
                  <a:txBody>
                    <a:bodyPr/>
                    <a:lstStyle/>
                    <a:p>
                      <a:r>
                        <a:rPr lang="en-US" dirty="0"/>
                        <a:t>EDUC</a:t>
                      </a:r>
                    </a:p>
                  </a:txBody>
                  <a:tcPr/>
                </a:tc>
                <a:tc>
                  <a:txBody>
                    <a:bodyPr/>
                    <a:lstStyle/>
                    <a:p>
                      <a:r>
                        <a:rPr lang="en-US" dirty="0"/>
                        <a:t>EMPSTAT</a:t>
                      </a:r>
                    </a:p>
                  </a:txBody>
                  <a:tcPr/>
                </a:tc>
                <a:extLst>
                  <a:ext uri="{0D108BD9-81ED-4DB2-BD59-A6C34878D82A}">
                    <a16:rowId xmlns:a16="http://schemas.microsoft.com/office/drawing/2014/main" val="3003117889"/>
                  </a:ext>
                </a:extLst>
              </a:tr>
              <a:tr h="370840">
                <a:tc>
                  <a:txBody>
                    <a:bodyPr/>
                    <a:lstStyle/>
                    <a:p>
                      <a:r>
                        <a:rPr lang="en-US" dirty="0"/>
                        <a:t>FIRST:</a:t>
                      </a:r>
                    </a:p>
                  </a:txBody>
                  <a:tcPr/>
                </a:tc>
                <a:tc>
                  <a:txBody>
                    <a:bodyPr/>
                    <a:lstStyle/>
                    <a:p>
                      <a:r>
                        <a:rPr lang="en-US" dirty="0"/>
                        <a:t>X</a:t>
                      </a:r>
                    </a:p>
                  </a:txBody>
                  <a:tcPr/>
                </a:tc>
                <a:tc>
                  <a:txBody>
                    <a:bodyPr/>
                    <a:lstStyle/>
                    <a:p>
                      <a:r>
                        <a:rPr lang="en-US" dirty="0"/>
                        <a:t>X</a:t>
                      </a:r>
                    </a:p>
                  </a:txBody>
                  <a:tcPr/>
                </a:tc>
                <a:tc>
                  <a:txBody>
                    <a:bodyPr/>
                    <a:lstStyle/>
                    <a:p>
                      <a:r>
                        <a:rPr lang="en-US" dirty="0"/>
                        <a:t>Naturalized</a:t>
                      </a:r>
                    </a:p>
                  </a:txBody>
                  <a:tcPr/>
                </a:tc>
                <a:tc>
                  <a:txBody>
                    <a:bodyPr/>
                    <a:lstStyle/>
                    <a:p>
                      <a:r>
                        <a:rPr lang="en-US" dirty="0"/>
                        <a:t>X</a:t>
                      </a:r>
                    </a:p>
                  </a:txBody>
                  <a:tcPr/>
                </a:tc>
                <a:tc>
                  <a:txBody>
                    <a:bodyPr/>
                    <a:lstStyle/>
                    <a:p>
                      <a:r>
                        <a:rPr lang="en-US" dirty="0">
                          <a:highlight>
                            <a:srgbClr val="FFFF00"/>
                          </a:highlight>
                        </a:rPr>
                        <a:t>French</a:t>
                      </a:r>
                    </a:p>
                  </a:txBody>
                  <a:tcPr/>
                </a:tc>
                <a:tc>
                  <a:txBody>
                    <a:bodyPr/>
                    <a:lstStyle/>
                    <a:p>
                      <a:r>
                        <a:rPr lang="en-US" dirty="0">
                          <a:highlight>
                            <a:srgbClr val="FFFF00"/>
                          </a:highlight>
                        </a:rPr>
                        <a:t>Speaks very well</a:t>
                      </a:r>
                    </a:p>
                  </a:txBody>
                  <a:tcPr/>
                </a:tc>
                <a:tc>
                  <a:txBody>
                    <a:bodyPr/>
                    <a:lstStyle/>
                    <a:p>
                      <a:r>
                        <a:rPr lang="en-US" dirty="0"/>
                        <a:t>Not in school</a:t>
                      </a:r>
                    </a:p>
                  </a:txBody>
                  <a:tcPr/>
                </a:tc>
                <a:tc>
                  <a:txBody>
                    <a:bodyPr/>
                    <a:lstStyle/>
                    <a:p>
                      <a:r>
                        <a:rPr lang="en-US" dirty="0">
                          <a:highlight>
                            <a:srgbClr val="FFFF00"/>
                          </a:highlight>
                        </a:rPr>
                        <a:t>5+ years, college</a:t>
                      </a:r>
                    </a:p>
                  </a:txBody>
                  <a:tcPr/>
                </a:tc>
                <a:tc>
                  <a:txBody>
                    <a:bodyPr/>
                    <a:lstStyle/>
                    <a:p>
                      <a:r>
                        <a:rPr lang="en-US" dirty="0"/>
                        <a:t>Employed</a:t>
                      </a:r>
                    </a:p>
                  </a:txBody>
                  <a:tcPr/>
                </a:tc>
                <a:extLst>
                  <a:ext uri="{0D108BD9-81ED-4DB2-BD59-A6C34878D82A}">
                    <a16:rowId xmlns:a16="http://schemas.microsoft.com/office/drawing/2014/main" val="3745944500"/>
                  </a:ext>
                </a:extLst>
              </a:tr>
              <a:tr h="370840">
                <a:tc>
                  <a:txBody>
                    <a:bodyPr/>
                    <a:lstStyle/>
                    <a:p>
                      <a:r>
                        <a:rPr lang="en-US" dirty="0"/>
                        <a:t>SECOND:</a:t>
                      </a:r>
                    </a:p>
                  </a:txBody>
                  <a:tcPr/>
                </a:tc>
                <a:tc>
                  <a:txBody>
                    <a:bodyPr/>
                    <a:lstStyle/>
                    <a:p>
                      <a:r>
                        <a:rPr lang="en-US" dirty="0"/>
                        <a:t>X</a:t>
                      </a:r>
                    </a:p>
                  </a:txBody>
                  <a:tcPr/>
                </a:tc>
                <a:tc>
                  <a:txBody>
                    <a:bodyPr/>
                    <a:lstStyle/>
                    <a:p>
                      <a:r>
                        <a:rPr lang="en-US" dirty="0"/>
                        <a:t>X</a:t>
                      </a:r>
                    </a:p>
                  </a:txBody>
                  <a:tcPr/>
                </a:tc>
                <a:tc>
                  <a:txBody>
                    <a:bodyPr/>
                    <a:lstStyle/>
                    <a:p>
                      <a:endParaRPr lang="en-US"/>
                    </a:p>
                  </a:txBody>
                  <a:tcPr/>
                </a:tc>
                <a:tc>
                  <a:txBody>
                    <a:bodyPr/>
                    <a:lstStyle/>
                    <a:p>
                      <a:r>
                        <a:rPr lang="en-US" dirty="0"/>
                        <a:t>X</a:t>
                      </a:r>
                    </a:p>
                  </a:txBody>
                  <a:tcPr/>
                </a:tc>
                <a:tc>
                  <a:txBody>
                    <a:bodyPr/>
                    <a:lstStyle/>
                    <a:p>
                      <a:r>
                        <a:rPr lang="en-US" dirty="0">
                          <a:highlight>
                            <a:srgbClr val="FFFF00"/>
                          </a:highlight>
                        </a:rPr>
                        <a:t>Arabic, Italian</a:t>
                      </a:r>
                    </a:p>
                  </a:txBody>
                  <a:tcPr/>
                </a:tc>
                <a:tc>
                  <a:txBody>
                    <a:bodyPr/>
                    <a:lstStyle/>
                    <a:p>
                      <a:r>
                        <a:rPr lang="en-US" dirty="0"/>
                        <a:t>Speaks but not well</a:t>
                      </a:r>
                    </a:p>
                  </a:txBody>
                  <a:tcPr/>
                </a:tc>
                <a:tc>
                  <a:txBody>
                    <a:bodyPr/>
                    <a:lstStyle/>
                    <a:p>
                      <a:endParaRPr lang="en-US"/>
                    </a:p>
                  </a:txBody>
                  <a:tcPr/>
                </a:tc>
                <a:tc>
                  <a:txBody>
                    <a:bodyPr/>
                    <a:lstStyle/>
                    <a:p>
                      <a:r>
                        <a:rPr lang="en-US" dirty="0">
                          <a:highlight>
                            <a:srgbClr val="FFFF00"/>
                          </a:highlight>
                        </a:rPr>
                        <a:t>4 years, college</a:t>
                      </a:r>
                    </a:p>
                  </a:txBody>
                  <a:tcPr/>
                </a:tc>
                <a:tc>
                  <a:txBody>
                    <a:bodyPr/>
                    <a:lstStyle/>
                    <a:p>
                      <a:endParaRPr lang="en-US" dirty="0"/>
                    </a:p>
                  </a:txBody>
                  <a:tcPr/>
                </a:tc>
                <a:extLst>
                  <a:ext uri="{0D108BD9-81ED-4DB2-BD59-A6C34878D82A}">
                    <a16:rowId xmlns:a16="http://schemas.microsoft.com/office/drawing/2014/main" val="3956599917"/>
                  </a:ext>
                </a:extLst>
              </a:tr>
            </a:tbl>
          </a:graphicData>
        </a:graphic>
      </p:graphicFrame>
      <p:graphicFrame>
        <p:nvGraphicFramePr>
          <p:cNvPr id="7" name="Table 6">
            <a:extLst>
              <a:ext uri="{FF2B5EF4-FFF2-40B4-BE49-F238E27FC236}">
                <a16:creationId xmlns:a16="http://schemas.microsoft.com/office/drawing/2014/main" id="{0A48B339-23CC-A4B1-E809-581CCAE23567}"/>
              </a:ext>
            </a:extLst>
          </p:cNvPr>
          <p:cNvGraphicFramePr>
            <a:graphicFrameLocks noGrp="1"/>
          </p:cNvGraphicFramePr>
          <p:nvPr>
            <p:extLst>
              <p:ext uri="{D42A27DB-BD31-4B8C-83A1-F6EECF244321}">
                <p14:modId xmlns:p14="http://schemas.microsoft.com/office/powerpoint/2010/main" val="733806321"/>
              </p:ext>
            </p:extLst>
          </p:nvPr>
        </p:nvGraphicFramePr>
        <p:xfrm>
          <a:off x="838199" y="5101419"/>
          <a:ext cx="8128000" cy="111252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731738058"/>
                    </a:ext>
                  </a:extLst>
                </a:gridCol>
                <a:gridCol w="1625600">
                  <a:extLst>
                    <a:ext uri="{9D8B030D-6E8A-4147-A177-3AD203B41FA5}">
                      <a16:colId xmlns:a16="http://schemas.microsoft.com/office/drawing/2014/main" val="3136648509"/>
                    </a:ext>
                  </a:extLst>
                </a:gridCol>
                <a:gridCol w="1625600">
                  <a:extLst>
                    <a:ext uri="{9D8B030D-6E8A-4147-A177-3AD203B41FA5}">
                      <a16:colId xmlns:a16="http://schemas.microsoft.com/office/drawing/2014/main" val="2020283136"/>
                    </a:ext>
                  </a:extLst>
                </a:gridCol>
                <a:gridCol w="1625600">
                  <a:extLst>
                    <a:ext uri="{9D8B030D-6E8A-4147-A177-3AD203B41FA5}">
                      <a16:colId xmlns:a16="http://schemas.microsoft.com/office/drawing/2014/main" val="1995222916"/>
                    </a:ext>
                  </a:extLst>
                </a:gridCol>
                <a:gridCol w="1625600">
                  <a:extLst>
                    <a:ext uri="{9D8B030D-6E8A-4147-A177-3AD203B41FA5}">
                      <a16:colId xmlns:a16="http://schemas.microsoft.com/office/drawing/2014/main" val="1324446383"/>
                    </a:ext>
                  </a:extLst>
                </a:gridCol>
              </a:tblGrid>
              <a:tr h="370840">
                <a:tc>
                  <a:txBody>
                    <a:bodyPr/>
                    <a:lstStyle/>
                    <a:p>
                      <a:endParaRPr lang="en-US" dirty="0"/>
                    </a:p>
                  </a:txBody>
                  <a:tcPr/>
                </a:tc>
                <a:tc>
                  <a:txBody>
                    <a:bodyPr/>
                    <a:lstStyle/>
                    <a:p>
                      <a:r>
                        <a:rPr lang="en-US" dirty="0"/>
                        <a:t>OCC</a:t>
                      </a:r>
                    </a:p>
                  </a:txBody>
                  <a:tcPr/>
                </a:tc>
                <a:tc>
                  <a:txBody>
                    <a:bodyPr/>
                    <a:lstStyle/>
                    <a:p>
                      <a:r>
                        <a:rPr lang="en-US" dirty="0"/>
                        <a:t>UHRSWORK</a:t>
                      </a:r>
                    </a:p>
                  </a:txBody>
                  <a:tcPr/>
                </a:tc>
                <a:tc>
                  <a:txBody>
                    <a:bodyPr/>
                    <a:lstStyle/>
                    <a:p>
                      <a:r>
                        <a:rPr lang="en-US" dirty="0"/>
                        <a:t>TRANWORK</a:t>
                      </a:r>
                    </a:p>
                  </a:txBody>
                  <a:tcPr/>
                </a:tc>
                <a:tc>
                  <a:txBody>
                    <a:bodyPr/>
                    <a:lstStyle/>
                    <a:p>
                      <a:r>
                        <a:rPr lang="en-US" dirty="0"/>
                        <a:t>CARPOOL</a:t>
                      </a:r>
                    </a:p>
                  </a:txBody>
                  <a:tcPr/>
                </a:tc>
                <a:extLst>
                  <a:ext uri="{0D108BD9-81ED-4DB2-BD59-A6C34878D82A}">
                    <a16:rowId xmlns:a16="http://schemas.microsoft.com/office/drawing/2014/main" val="100211684"/>
                  </a:ext>
                </a:extLst>
              </a:tr>
              <a:tr h="370840">
                <a:tc>
                  <a:txBody>
                    <a:bodyPr/>
                    <a:lstStyle/>
                    <a:p>
                      <a:r>
                        <a:rPr lang="en-US" dirty="0"/>
                        <a:t>FIRST:</a:t>
                      </a:r>
                    </a:p>
                  </a:txBody>
                  <a:tcPr/>
                </a:tc>
                <a:tc>
                  <a:txBody>
                    <a:bodyPr/>
                    <a:lstStyle/>
                    <a:p>
                      <a:r>
                        <a:rPr lang="en-US" dirty="0">
                          <a:highlight>
                            <a:srgbClr val="FFFF00"/>
                          </a:highlight>
                        </a:rPr>
                        <a:t>Comp, </a:t>
                      </a:r>
                      <a:r>
                        <a:rPr lang="en-US" dirty="0" err="1">
                          <a:highlight>
                            <a:srgbClr val="FFFF00"/>
                          </a:highlight>
                        </a:rPr>
                        <a:t>Eng</a:t>
                      </a:r>
                      <a:r>
                        <a:rPr lang="en-US" dirty="0">
                          <a:highlight>
                            <a:srgbClr val="FFFF00"/>
                          </a:highlight>
                        </a:rPr>
                        <a:t>, Sci</a:t>
                      </a:r>
                    </a:p>
                  </a:txBody>
                  <a:tcPr/>
                </a:tc>
                <a:tc>
                  <a:txBody>
                    <a:bodyPr/>
                    <a:lstStyle/>
                    <a:p>
                      <a:r>
                        <a:rPr lang="en-US" dirty="0"/>
                        <a:t>50</a:t>
                      </a:r>
                    </a:p>
                  </a:txBody>
                  <a:tcPr/>
                </a:tc>
                <a:tc>
                  <a:txBody>
                    <a:bodyPr/>
                    <a:lstStyle/>
                    <a:p>
                      <a:r>
                        <a:rPr lang="en-US" dirty="0"/>
                        <a:t>Auto</a:t>
                      </a:r>
                    </a:p>
                  </a:txBody>
                  <a:tcPr/>
                </a:tc>
                <a:tc>
                  <a:txBody>
                    <a:bodyPr/>
                    <a:lstStyle/>
                    <a:p>
                      <a:r>
                        <a:rPr lang="en-US" dirty="0"/>
                        <a:t>Drives alone</a:t>
                      </a:r>
                    </a:p>
                  </a:txBody>
                  <a:tcPr/>
                </a:tc>
                <a:extLst>
                  <a:ext uri="{0D108BD9-81ED-4DB2-BD59-A6C34878D82A}">
                    <a16:rowId xmlns:a16="http://schemas.microsoft.com/office/drawing/2014/main" val="359515360"/>
                  </a:ext>
                </a:extLst>
              </a:tr>
              <a:tr h="370840">
                <a:tc>
                  <a:txBody>
                    <a:bodyPr/>
                    <a:lstStyle/>
                    <a:p>
                      <a:r>
                        <a:rPr lang="en-US" dirty="0"/>
                        <a:t>SECOND:</a:t>
                      </a:r>
                    </a:p>
                  </a:txBody>
                  <a:tcPr/>
                </a:tc>
                <a:tc>
                  <a:txBody>
                    <a:bodyPr/>
                    <a:lstStyle/>
                    <a:p>
                      <a:r>
                        <a:rPr lang="en-US" dirty="0">
                          <a:highlight>
                            <a:srgbClr val="FFFF00"/>
                          </a:highlight>
                        </a:rPr>
                        <a:t>Healthcare</a:t>
                      </a:r>
                    </a:p>
                  </a:txBody>
                  <a:tcPr/>
                </a:tc>
                <a:tc>
                  <a:txBody>
                    <a:bodyPr/>
                    <a:lstStyle/>
                    <a:p>
                      <a:r>
                        <a:rPr lang="en-US" dirty="0"/>
                        <a:t>60</a:t>
                      </a:r>
                    </a:p>
                  </a:txBody>
                  <a:tcPr/>
                </a:tc>
                <a:tc>
                  <a:txBody>
                    <a:bodyPr/>
                    <a:lstStyle/>
                    <a:p>
                      <a:endParaRPr lang="en-US"/>
                    </a:p>
                  </a:txBody>
                  <a:tcPr/>
                </a:tc>
                <a:tc>
                  <a:txBody>
                    <a:bodyPr/>
                    <a:lstStyle/>
                    <a:p>
                      <a:r>
                        <a:rPr lang="en-US" dirty="0"/>
                        <a:t>Carpools</a:t>
                      </a:r>
                    </a:p>
                  </a:txBody>
                  <a:tcPr/>
                </a:tc>
                <a:extLst>
                  <a:ext uri="{0D108BD9-81ED-4DB2-BD59-A6C34878D82A}">
                    <a16:rowId xmlns:a16="http://schemas.microsoft.com/office/drawing/2014/main" val="2296630166"/>
                  </a:ext>
                </a:extLst>
              </a:tr>
            </a:tbl>
          </a:graphicData>
        </a:graphic>
      </p:graphicFrame>
    </p:spTree>
    <p:extLst>
      <p:ext uri="{BB962C8B-B14F-4D97-AF65-F5344CB8AC3E}">
        <p14:creationId xmlns:p14="http://schemas.microsoft.com/office/powerpoint/2010/main" val="2005376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6A458-DB66-A1C4-A359-217243394A99}"/>
              </a:ext>
            </a:extLst>
          </p:cNvPr>
          <p:cNvSpPr>
            <a:spLocks noGrp="1"/>
          </p:cNvSpPr>
          <p:nvPr>
            <p:ph type="title"/>
          </p:nvPr>
        </p:nvSpPr>
        <p:spPr>
          <a:xfrm>
            <a:off x="838200" y="86803"/>
            <a:ext cx="10515600" cy="1325563"/>
          </a:xfrm>
        </p:spPr>
        <p:txBody>
          <a:bodyPr/>
          <a:lstStyle/>
          <a:p>
            <a:r>
              <a:rPr lang="en-US" dirty="0"/>
              <a:t>Mixed</a:t>
            </a:r>
          </a:p>
        </p:txBody>
      </p:sp>
      <p:graphicFrame>
        <p:nvGraphicFramePr>
          <p:cNvPr id="4" name="Content Placeholder 3">
            <a:extLst>
              <a:ext uri="{FF2B5EF4-FFF2-40B4-BE49-F238E27FC236}">
                <a16:creationId xmlns:a16="http://schemas.microsoft.com/office/drawing/2014/main" id="{CED24BBF-A676-9B2E-5D51-42D58CDBFFB7}"/>
              </a:ext>
            </a:extLst>
          </p:cNvPr>
          <p:cNvGraphicFramePr>
            <a:graphicFrameLocks noGrp="1"/>
          </p:cNvGraphicFramePr>
          <p:nvPr>
            <p:ph idx="1"/>
            <p:extLst>
              <p:ext uri="{D42A27DB-BD31-4B8C-83A1-F6EECF244321}">
                <p14:modId xmlns:p14="http://schemas.microsoft.com/office/powerpoint/2010/main" val="648760757"/>
              </p:ext>
            </p:extLst>
          </p:nvPr>
        </p:nvGraphicFramePr>
        <p:xfrm>
          <a:off x="838200" y="1111641"/>
          <a:ext cx="10515600" cy="1651000"/>
        </p:xfrm>
        <a:graphic>
          <a:graphicData uri="http://schemas.openxmlformats.org/drawingml/2006/table">
            <a:tbl>
              <a:tblPr firstRow="1" bandRow="1">
                <a:tableStyleId>{5C22544A-7EE6-4342-B048-85BDC9FD1C3A}</a:tableStyleId>
              </a:tblPr>
              <a:tblGrid>
                <a:gridCol w="1051560">
                  <a:extLst>
                    <a:ext uri="{9D8B030D-6E8A-4147-A177-3AD203B41FA5}">
                      <a16:colId xmlns:a16="http://schemas.microsoft.com/office/drawing/2014/main" val="1401879311"/>
                    </a:ext>
                  </a:extLst>
                </a:gridCol>
                <a:gridCol w="1216695">
                  <a:extLst>
                    <a:ext uri="{9D8B030D-6E8A-4147-A177-3AD203B41FA5}">
                      <a16:colId xmlns:a16="http://schemas.microsoft.com/office/drawing/2014/main" val="4034152867"/>
                    </a:ext>
                  </a:extLst>
                </a:gridCol>
                <a:gridCol w="926926">
                  <a:extLst>
                    <a:ext uri="{9D8B030D-6E8A-4147-A177-3AD203B41FA5}">
                      <a16:colId xmlns:a16="http://schemas.microsoft.com/office/drawing/2014/main" val="1572300330"/>
                    </a:ext>
                  </a:extLst>
                </a:gridCol>
                <a:gridCol w="1515649">
                  <a:extLst>
                    <a:ext uri="{9D8B030D-6E8A-4147-A177-3AD203B41FA5}">
                      <a16:colId xmlns:a16="http://schemas.microsoft.com/office/drawing/2014/main" val="1173081815"/>
                    </a:ext>
                  </a:extLst>
                </a:gridCol>
                <a:gridCol w="1365337">
                  <a:extLst>
                    <a:ext uri="{9D8B030D-6E8A-4147-A177-3AD203B41FA5}">
                      <a16:colId xmlns:a16="http://schemas.microsoft.com/office/drawing/2014/main" val="1096322877"/>
                    </a:ext>
                  </a:extLst>
                </a:gridCol>
                <a:gridCol w="964504">
                  <a:extLst>
                    <a:ext uri="{9D8B030D-6E8A-4147-A177-3AD203B41FA5}">
                      <a16:colId xmlns:a16="http://schemas.microsoft.com/office/drawing/2014/main" val="3199580257"/>
                    </a:ext>
                  </a:extLst>
                </a:gridCol>
                <a:gridCol w="751562">
                  <a:extLst>
                    <a:ext uri="{9D8B030D-6E8A-4147-A177-3AD203B41FA5}">
                      <a16:colId xmlns:a16="http://schemas.microsoft.com/office/drawing/2014/main" val="234839993"/>
                    </a:ext>
                  </a:extLst>
                </a:gridCol>
                <a:gridCol w="839244">
                  <a:extLst>
                    <a:ext uri="{9D8B030D-6E8A-4147-A177-3AD203B41FA5}">
                      <a16:colId xmlns:a16="http://schemas.microsoft.com/office/drawing/2014/main" val="4119221714"/>
                    </a:ext>
                  </a:extLst>
                </a:gridCol>
                <a:gridCol w="1027134">
                  <a:extLst>
                    <a:ext uri="{9D8B030D-6E8A-4147-A177-3AD203B41FA5}">
                      <a16:colId xmlns:a16="http://schemas.microsoft.com/office/drawing/2014/main" val="2132151298"/>
                    </a:ext>
                  </a:extLst>
                </a:gridCol>
                <a:gridCol w="856989">
                  <a:extLst>
                    <a:ext uri="{9D8B030D-6E8A-4147-A177-3AD203B41FA5}">
                      <a16:colId xmlns:a16="http://schemas.microsoft.com/office/drawing/2014/main" val="4021367676"/>
                    </a:ext>
                  </a:extLst>
                </a:gridCol>
              </a:tblGrid>
              <a:tr h="370840">
                <a:tc>
                  <a:txBody>
                    <a:bodyPr/>
                    <a:lstStyle/>
                    <a:p>
                      <a:endParaRPr lang="en-US"/>
                    </a:p>
                  </a:txBody>
                  <a:tcPr/>
                </a:tc>
                <a:tc>
                  <a:txBody>
                    <a:bodyPr/>
                    <a:lstStyle/>
                    <a:p>
                      <a:r>
                        <a:rPr lang="en-US" dirty="0"/>
                        <a:t>STATEFIP</a:t>
                      </a:r>
                    </a:p>
                  </a:txBody>
                  <a:tcPr/>
                </a:tc>
                <a:tc>
                  <a:txBody>
                    <a:bodyPr/>
                    <a:lstStyle/>
                    <a:p>
                      <a:r>
                        <a:rPr lang="en-US" dirty="0"/>
                        <a:t>METRO</a:t>
                      </a:r>
                    </a:p>
                  </a:txBody>
                  <a:tcPr/>
                </a:tc>
                <a:tc>
                  <a:txBody>
                    <a:bodyPr/>
                    <a:lstStyle/>
                    <a:p>
                      <a:r>
                        <a:rPr lang="en-US" sz="1800" dirty="0"/>
                        <a:t>OWNERSHPD</a:t>
                      </a:r>
                    </a:p>
                  </a:txBody>
                  <a:tcPr/>
                </a:tc>
                <a:tc>
                  <a:txBody>
                    <a:bodyPr/>
                    <a:lstStyle/>
                    <a:p>
                      <a:r>
                        <a:rPr lang="en-US" dirty="0"/>
                        <a:t>MORTGAGE</a:t>
                      </a:r>
                    </a:p>
                  </a:txBody>
                  <a:tcPr/>
                </a:tc>
                <a:tc>
                  <a:txBody>
                    <a:bodyPr/>
                    <a:lstStyle/>
                    <a:p>
                      <a:r>
                        <a:rPr lang="en-US" dirty="0"/>
                        <a:t>NCHILD</a:t>
                      </a:r>
                    </a:p>
                  </a:txBody>
                  <a:tcPr/>
                </a:tc>
                <a:tc>
                  <a:txBody>
                    <a:bodyPr/>
                    <a:lstStyle/>
                    <a:p>
                      <a:r>
                        <a:rPr lang="en-US" dirty="0"/>
                        <a:t>SEX</a:t>
                      </a:r>
                    </a:p>
                  </a:txBody>
                  <a:tcPr/>
                </a:tc>
                <a:tc>
                  <a:txBody>
                    <a:bodyPr/>
                    <a:lstStyle/>
                    <a:p>
                      <a:r>
                        <a:rPr lang="en-US" dirty="0"/>
                        <a:t>AGE</a:t>
                      </a:r>
                    </a:p>
                  </a:txBody>
                  <a:tcPr/>
                </a:tc>
                <a:tc>
                  <a:txBody>
                    <a:bodyPr/>
                    <a:lstStyle/>
                    <a:p>
                      <a:r>
                        <a:rPr lang="en-US" dirty="0"/>
                        <a:t>MARST</a:t>
                      </a:r>
                    </a:p>
                  </a:txBody>
                  <a:tcPr/>
                </a:tc>
                <a:tc>
                  <a:txBody>
                    <a:bodyPr/>
                    <a:lstStyle/>
                    <a:p>
                      <a:r>
                        <a:rPr lang="en-US" dirty="0"/>
                        <a:t>RACE</a:t>
                      </a:r>
                    </a:p>
                  </a:txBody>
                  <a:tcPr/>
                </a:tc>
                <a:extLst>
                  <a:ext uri="{0D108BD9-81ED-4DB2-BD59-A6C34878D82A}">
                    <a16:rowId xmlns:a16="http://schemas.microsoft.com/office/drawing/2014/main" val="514064496"/>
                  </a:ext>
                </a:extLst>
              </a:tr>
              <a:tr h="370840">
                <a:tc>
                  <a:txBody>
                    <a:bodyPr/>
                    <a:lstStyle/>
                    <a:p>
                      <a:r>
                        <a:rPr lang="en-US" dirty="0"/>
                        <a:t>FIRST:</a:t>
                      </a:r>
                    </a:p>
                  </a:txBody>
                  <a:tcPr/>
                </a:tc>
                <a:tc>
                  <a:txBody>
                    <a:bodyPr/>
                    <a:lstStyle/>
                    <a:p>
                      <a:r>
                        <a:rPr lang="en-US" dirty="0">
                          <a:highlight>
                            <a:srgbClr val="FFFF00"/>
                          </a:highlight>
                        </a:rPr>
                        <a:t>Minnesota</a:t>
                      </a:r>
                    </a:p>
                  </a:txBody>
                  <a:tcPr/>
                </a:tc>
                <a:tc>
                  <a:txBody>
                    <a:bodyPr/>
                    <a:lstStyle/>
                    <a:p>
                      <a:r>
                        <a:rPr lang="en-US" dirty="0"/>
                        <a:t>Suburb</a:t>
                      </a:r>
                    </a:p>
                  </a:txBody>
                  <a:tcPr/>
                </a:tc>
                <a:tc>
                  <a:txBody>
                    <a:bodyPr/>
                    <a:lstStyle/>
                    <a:p>
                      <a:r>
                        <a:rPr lang="en-US" dirty="0"/>
                        <a:t>Own w/ mortgage</a:t>
                      </a:r>
                    </a:p>
                  </a:txBody>
                  <a:tcPr/>
                </a:tc>
                <a:tc>
                  <a:txBody>
                    <a:bodyPr/>
                    <a:lstStyle/>
                    <a:p>
                      <a:r>
                        <a:rPr lang="en-US" dirty="0"/>
                        <a:t>Have mortgage</a:t>
                      </a:r>
                    </a:p>
                  </a:txBody>
                  <a:tcPr/>
                </a:tc>
                <a:tc>
                  <a:txBody>
                    <a:bodyPr/>
                    <a:lstStyle/>
                    <a:p>
                      <a:r>
                        <a:rPr lang="en-US" dirty="0"/>
                        <a:t>X</a:t>
                      </a:r>
                    </a:p>
                  </a:txBody>
                  <a:tcPr/>
                </a:tc>
                <a:tc>
                  <a:txBody>
                    <a:bodyPr/>
                    <a:lstStyle/>
                    <a:p>
                      <a:r>
                        <a:rPr lang="en-US" dirty="0"/>
                        <a:t>X</a:t>
                      </a:r>
                    </a:p>
                  </a:txBody>
                  <a:tcPr/>
                </a:tc>
                <a:tc>
                  <a:txBody>
                    <a:bodyPr/>
                    <a:lstStyle/>
                    <a:p>
                      <a:r>
                        <a:rPr lang="en-US" dirty="0"/>
                        <a:t>X</a:t>
                      </a:r>
                    </a:p>
                  </a:txBody>
                  <a:tcPr/>
                </a:tc>
                <a:tc>
                  <a:txBody>
                    <a:bodyPr/>
                    <a:lstStyle/>
                    <a:p>
                      <a:r>
                        <a:rPr lang="en-US" dirty="0">
                          <a:highlight>
                            <a:srgbClr val="FFFF00"/>
                          </a:highlight>
                        </a:rPr>
                        <a:t>Married</a:t>
                      </a:r>
                    </a:p>
                  </a:txBody>
                  <a:tcPr/>
                </a:tc>
                <a:tc>
                  <a:txBody>
                    <a:bodyPr/>
                    <a:lstStyle/>
                    <a:p>
                      <a:r>
                        <a:rPr lang="en-US" dirty="0"/>
                        <a:t>X</a:t>
                      </a:r>
                    </a:p>
                  </a:txBody>
                  <a:tcPr/>
                </a:tc>
                <a:extLst>
                  <a:ext uri="{0D108BD9-81ED-4DB2-BD59-A6C34878D82A}">
                    <a16:rowId xmlns:a16="http://schemas.microsoft.com/office/drawing/2014/main" val="3214955533"/>
                  </a:ext>
                </a:extLst>
              </a:tr>
              <a:tr h="370840">
                <a:tc>
                  <a:txBody>
                    <a:bodyPr/>
                    <a:lstStyle/>
                    <a:p>
                      <a:r>
                        <a:rPr lang="en-US" dirty="0"/>
                        <a:t>SECOND:</a:t>
                      </a:r>
                    </a:p>
                  </a:txBody>
                  <a:tcPr/>
                </a:tc>
                <a:tc>
                  <a:txBody>
                    <a:bodyPr/>
                    <a:lstStyle/>
                    <a:p>
                      <a:r>
                        <a:rPr lang="en-US" dirty="0"/>
                        <a:t>Montana, Oklahoma</a:t>
                      </a:r>
                    </a:p>
                  </a:txBody>
                  <a:tcPr/>
                </a:tc>
                <a:tc>
                  <a:txBody>
                    <a:bodyPr/>
                    <a:lstStyle/>
                    <a:p>
                      <a:r>
                        <a:rPr lang="en-US" dirty="0"/>
                        <a:t>Mixed, Metro</a:t>
                      </a:r>
                    </a:p>
                  </a:txBody>
                  <a:tcPr/>
                </a:tc>
                <a:tc>
                  <a:txBody>
                    <a:bodyPr/>
                    <a:lstStyle/>
                    <a:p>
                      <a:r>
                        <a:rPr lang="en-US" dirty="0"/>
                        <a:t>Own free and clear</a:t>
                      </a:r>
                    </a:p>
                  </a:txBody>
                  <a:tcPr/>
                </a:tc>
                <a:tc>
                  <a:txBody>
                    <a:bodyPr/>
                    <a:lstStyle/>
                    <a:p>
                      <a:r>
                        <a:rPr lang="en-US" dirty="0"/>
                        <a:t>Own free and clear</a:t>
                      </a:r>
                    </a:p>
                  </a:txBody>
                  <a:tcPr/>
                </a:tc>
                <a:tc>
                  <a:txBody>
                    <a:bodyPr/>
                    <a:lstStyle/>
                    <a:p>
                      <a:r>
                        <a:rPr lang="en-US" dirty="0"/>
                        <a:t>X</a:t>
                      </a:r>
                    </a:p>
                  </a:txBody>
                  <a:tcPr/>
                </a:tc>
                <a:tc>
                  <a:txBody>
                    <a:bodyPr/>
                    <a:lstStyle/>
                    <a:p>
                      <a:r>
                        <a:rPr lang="en-US" dirty="0"/>
                        <a:t>X</a:t>
                      </a:r>
                    </a:p>
                  </a:txBody>
                  <a:tcPr/>
                </a:tc>
                <a:tc>
                  <a:txBody>
                    <a:bodyPr/>
                    <a:lstStyle/>
                    <a:p>
                      <a:r>
                        <a:rPr lang="en-US" dirty="0"/>
                        <a:t>X</a:t>
                      </a:r>
                    </a:p>
                  </a:txBody>
                  <a:tcPr/>
                </a:tc>
                <a:tc>
                  <a:txBody>
                    <a:bodyPr/>
                    <a:lstStyle/>
                    <a:p>
                      <a:r>
                        <a:rPr lang="en-US" dirty="0"/>
                        <a:t>Divorced</a:t>
                      </a:r>
                    </a:p>
                  </a:txBody>
                  <a:tcPr/>
                </a:tc>
                <a:tc>
                  <a:txBody>
                    <a:bodyPr/>
                    <a:lstStyle/>
                    <a:p>
                      <a:r>
                        <a:rPr lang="en-US" dirty="0"/>
                        <a:t>X</a:t>
                      </a:r>
                    </a:p>
                  </a:txBody>
                  <a:tcPr/>
                </a:tc>
                <a:extLst>
                  <a:ext uri="{0D108BD9-81ED-4DB2-BD59-A6C34878D82A}">
                    <a16:rowId xmlns:a16="http://schemas.microsoft.com/office/drawing/2014/main" val="2627619954"/>
                  </a:ext>
                </a:extLst>
              </a:tr>
            </a:tbl>
          </a:graphicData>
        </a:graphic>
      </p:graphicFrame>
      <p:graphicFrame>
        <p:nvGraphicFramePr>
          <p:cNvPr id="5" name="Table 4">
            <a:extLst>
              <a:ext uri="{FF2B5EF4-FFF2-40B4-BE49-F238E27FC236}">
                <a16:creationId xmlns:a16="http://schemas.microsoft.com/office/drawing/2014/main" id="{9667D902-3854-DAE6-6CDD-314F37D5C398}"/>
              </a:ext>
            </a:extLst>
          </p:cNvPr>
          <p:cNvGraphicFramePr>
            <a:graphicFrameLocks noGrp="1"/>
          </p:cNvGraphicFramePr>
          <p:nvPr>
            <p:extLst>
              <p:ext uri="{D42A27DB-BD31-4B8C-83A1-F6EECF244321}">
                <p14:modId xmlns:p14="http://schemas.microsoft.com/office/powerpoint/2010/main" val="578689444"/>
              </p:ext>
            </p:extLst>
          </p:nvPr>
        </p:nvGraphicFramePr>
        <p:xfrm>
          <a:off x="838200" y="2944908"/>
          <a:ext cx="10515600" cy="1925320"/>
        </p:xfrm>
        <a:graphic>
          <a:graphicData uri="http://schemas.openxmlformats.org/drawingml/2006/table">
            <a:tbl>
              <a:tblPr firstRow="1" bandRow="1">
                <a:tableStyleId>{5C22544A-7EE6-4342-B048-85BDC9FD1C3A}</a:tableStyleId>
              </a:tblPr>
              <a:tblGrid>
                <a:gridCol w="1051560">
                  <a:extLst>
                    <a:ext uri="{9D8B030D-6E8A-4147-A177-3AD203B41FA5}">
                      <a16:colId xmlns:a16="http://schemas.microsoft.com/office/drawing/2014/main" val="1961733583"/>
                    </a:ext>
                  </a:extLst>
                </a:gridCol>
                <a:gridCol w="903545">
                  <a:extLst>
                    <a:ext uri="{9D8B030D-6E8A-4147-A177-3AD203B41FA5}">
                      <a16:colId xmlns:a16="http://schemas.microsoft.com/office/drawing/2014/main" val="761595598"/>
                    </a:ext>
                  </a:extLst>
                </a:gridCol>
                <a:gridCol w="638827">
                  <a:extLst>
                    <a:ext uri="{9D8B030D-6E8A-4147-A177-3AD203B41FA5}">
                      <a16:colId xmlns:a16="http://schemas.microsoft.com/office/drawing/2014/main" val="3171125857"/>
                    </a:ext>
                  </a:extLst>
                </a:gridCol>
                <a:gridCol w="1390390">
                  <a:extLst>
                    <a:ext uri="{9D8B030D-6E8A-4147-A177-3AD203B41FA5}">
                      <a16:colId xmlns:a16="http://schemas.microsoft.com/office/drawing/2014/main" val="691834701"/>
                    </a:ext>
                  </a:extLst>
                </a:gridCol>
                <a:gridCol w="1064712">
                  <a:extLst>
                    <a:ext uri="{9D8B030D-6E8A-4147-A177-3AD203B41FA5}">
                      <a16:colId xmlns:a16="http://schemas.microsoft.com/office/drawing/2014/main" val="3750288309"/>
                    </a:ext>
                  </a:extLst>
                </a:gridCol>
                <a:gridCol w="1260326">
                  <a:extLst>
                    <a:ext uri="{9D8B030D-6E8A-4147-A177-3AD203B41FA5}">
                      <a16:colId xmlns:a16="http://schemas.microsoft.com/office/drawing/2014/main" val="1017217567"/>
                    </a:ext>
                  </a:extLst>
                </a:gridCol>
                <a:gridCol w="1207301">
                  <a:extLst>
                    <a:ext uri="{9D8B030D-6E8A-4147-A177-3AD203B41FA5}">
                      <a16:colId xmlns:a16="http://schemas.microsoft.com/office/drawing/2014/main" val="2250140770"/>
                    </a:ext>
                  </a:extLst>
                </a:gridCol>
                <a:gridCol w="989555">
                  <a:extLst>
                    <a:ext uri="{9D8B030D-6E8A-4147-A177-3AD203B41FA5}">
                      <a16:colId xmlns:a16="http://schemas.microsoft.com/office/drawing/2014/main" val="1541954138"/>
                    </a:ext>
                  </a:extLst>
                </a:gridCol>
                <a:gridCol w="957824">
                  <a:extLst>
                    <a:ext uri="{9D8B030D-6E8A-4147-A177-3AD203B41FA5}">
                      <a16:colId xmlns:a16="http://schemas.microsoft.com/office/drawing/2014/main" val="3966962661"/>
                    </a:ext>
                  </a:extLst>
                </a:gridCol>
                <a:gridCol w="1051560">
                  <a:extLst>
                    <a:ext uri="{9D8B030D-6E8A-4147-A177-3AD203B41FA5}">
                      <a16:colId xmlns:a16="http://schemas.microsoft.com/office/drawing/2014/main" val="192102192"/>
                    </a:ext>
                  </a:extLst>
                </a:gridCol>
              </a:tblGrid>
              <a:tr h="370840">
                <a:tc>
                  <a:txBody>
                    <a:bodyPr/>
                    <a:lstStyle/>
                    <a:p>
                      <a:endParaRPr lang="en-US"/>
                    </a:p>
                  </a:txBody>
                  <a:tcPr/>
                </a:tc>
                <a:tc>
                  <a:txBody>
                    <a:bodyPr/>
                    <a:lstStyle/>
                    <a:p>
                      <a:r>
                        <a:rPr lang="en-US" dirty="0"/>
                        <a:t>HISPAN</a:t>
                      </a:r>
                    </a:p>
                  </a:txBody>
                  <a:tcPr/>
                </a:tc>
                <a:tc>
                  <a:txBody>
                    <a:bodyPr/>
                    <a:lstStyle/>
                    <a:p>
                      <a:r>
                        <a:rPr lang="en-US" dirty="0"/>
                        <a:t>BPL</a:t>
                      </a:r>
                    </a:p>
                  </a:txBody>
                  <a:tcPr/>
                </a:tc>
                <a:tc>
                  <a:txBody>
                    <a:bodyPr/>
                    <a:lstStyle/>
                    <a:p>
                      <a:r>
                        <a:rPr lang="en-US" dirty="0"/>
                        <a:t>CITIZEN</a:t>
                      </a:r>
                    </a:p>
                  </a:txBody>
                  <a:tcPr/>
                </a:tc>
                <a:tc>
                  <a:txBody>
                    <a:bodyPr/>
                    <a:lstStyle/>
                    <a:p>
                      <a:r>
                        <a:rPr lang="en-US" dirty="0"/>
                        <a:t>YRSUSA1</a:t>
                      </a:r>
                    </a:p>
                  </a:txBody>
                  <a:tcPr/>
                </a:tc>
                <a:tc>
                  <a:txBody>
                    <a:bodyPr/>
                    <a:lstStyle/>
                    <a:p>
                      <a:r>
                        <a:rPr lang="en-US" dirty="0"/>
                        <a:t>LANGUAGE</a:t>
                      </a:r>
                    </a:p>
                  </a:txBody>
                  <a:tcPr/>
                </a:tc>
                <a:tc>
                  <a:txBody>
                    <a:bodyPr/>
                    <a:lstStyle/>
                    <a:p>
                      <a:r>
                        <a:rPr lang="en-US" dirty="0"/>
                        <a:t>SPEAKENG</a:t>
                      </a:r>
                    </a:p>
                  </a:txBody>
                  <a:tcPr/>
                </a:tc>
                <a:tc>
                  <a:txBody>
                    <a:bodyPr/>
                    <a:lstStyle/>
                    <a:p>
                      <a:r>
                        <a:rPr lang="en-US" dirty="0"/>
                        <a:t>SCHOOL</a:t>
                      </a:r>
                    </a:p>
                  </a:txBody>
                  <a:tcPr/>
                </a:tc>
                <a:tc>
                  <a:txBody>
                    <a:bodyPr/>
                    <a:lstStyle/>
                    <a:p>
                      <a:r>
                        <a:rPr lang="en-US" dirty="0"/>
                        <a:t>EDUC</a:t>
                      </a:r>
                    </a:p>
                  </a:txBody>
                  <a:tcPr/>
                </a:tc>
                <a:tc>
                  <a:txBody>
                    <a:bodyPr/>
                    <a:lstStyle/>
                    <a:p>
                      <a:r>
                        <a:rPr lang="en-US" dirty="0"/>
                        <a:t>EMPSTAT</a:t>
                      </a:r>
                    </a:p>
                  </a:txBody>
                  <a:tcPr/>
                </a:tc>
                <a:extLst>
                  <a:ext uri="{0D108BD9-81ED-4DB2-BD59-A6C34878D82A}">
                    <a16:rowId xmlns:a16="http://schemas.microsoft.com/office/drawing/2014/main" val="3003117889"/>
                  </a:ext>
                </a:extLst>
              </a:tr>
              <a:tr h="370840">
                <a:tc>
                  <a:txBody>
                    <a:bodyPr/>
                    <a:lstStyle/>
                    <a:p>
                      <a:r>
                        <a:rPr lang="en-US" dirty="0"/>
                        <a:t>FIRST:</a:t>
                      </a:r>
                    </a:p>
                  </a:txBody>
                  <a:tcPr/>
                </a:tc>
                <a:tc>
                  <a:txBody>
                    <a:bodyPr/>
                    <a:lstStyle/>
                    <a:p>
                      <a:r>
                        <a:rPr lang="en-US" dirty="0"/>
                        <a:t>X</a:t>
                      </a:r>
                    </a:p>
                  </a:txBody>
                  <a:tcPr/>
                </a:tc>
                <a:tc>
                  <a:txBody>
                    <a:bodyPr/>
                    <a:lstStyle/>
                    <a:p>
                      <a:r>
                        <a:rPr lang="en-US" dirty="0"/>
                        <a:t>X</a:t>
                      </a:r>
                    </a:p>
                  </a:txBody>
                  <a:tcPr/>
                </a:tc>
                <a:tc>
                  <a:txBody>
                    <a:bodyPr/>
                    <a:lstStyle/>
                    <a:p>
                      <a:r>
                        <a:rPr lang="en-US" dirty="0">
                          <a:highlight>
                            <a:srgbClr val="FFFF00"/>
                          </a:highlight>
                        </a:rPr>
                        <a:t>Naturalized</a:t>
                      </a:r>
                    </a:p>
                  </a:txBody>
                  <a:tcPr/>
                </a:tc>
                <a:tc>
                  <a:txBody>
                    <a:bodyPr/>
                    <a:lstStyle/>
                    <a:p>
                      <a:r>
                        <a:rPr lang="en-US" dirty="0"/>
                        <a:t>X</a:t>
                      </a:r>
                    </a:p>
                  </a:txBody>
                  <a:tcPr/>
                </a:tc>
                <a:tc>
                  <a:txBody>
                    <a:bodyPr/>
                    <a:lstStyle/>
                    <a:p>
                      <a:r>
                        <a:rPr lang="en-US" dirty="0">
                          <a:highlight>
                            <a:srgbClr val="FFFF00"/>
                          </a:highlight>
                        </a:rPr>
                        <a:t>German</a:t>
                      </a:r>
                    </a:p>
                  </a:txBody>
                  <a:tcPr/>
                </a:tc>
                <a:tc>
                  <a:txBody>
                    <a:bodyPr/>
                    <a:lstStyle/>
                    <a:p>
                      <a:r>
                        <a:rPr lang="en-US" dirty="0"/>
                        <a:t>Speaks very well</a:t>
                      </a:r>
                    </a:p>
                  </a:txBody>
                  <a:tcPr/>
                </a:tc>
                <a:tc>
                  <a:txBody>
                    <a:bodyPr/>
                    <a:lstStyle/>
                    <a:p>
                      <a:r>
                        <a:rPr lang="en-US" dirty="0"/>
                        <a:t>Not in school</a:t>
                      </a:r>
                    </a:p>
                  </a:txBody>
                  <a:tcPr/>
                </a:tc>
                <a:tc>
                  <a:txBody>
                    <a:bodyPr/>
                    <a:lstStyle/>
                    <a:p>
                      <a:r>
                        <a:rPr lang="en-US" dirty="0">
                          <a:highlight>
                            <a:srgbClr val="FFFF00"/>
                          </a:highlight>
                        </a:rPr>
                        <a:t>5+ years, college</a:t>
                      </a:r>
                    </a:p>
                  </a:txBody>
                  <a:tcPr/>
                </a:tc>
                <a:tc>
                  <a:txBody>
                    <a:bodyPr/>
                    <a:lstStyle/>
                    <a:p>
                      <a:r>
                        <a:rPr lang="en-US" sz="1800" dirty="0"/>
                        <a:t>Employed</a:t>
                      </a:r>
                    </a:p>
                  </a:txBody>
                  <a:tcPr/>
                </a:tc>
                <a:extLst>
                  <a:ext uri="{0D108BD9-81ED-4DB2-BD59-A6C34878D82A}">
                    <a16:rowId xmlns:a16="http://schemas.microsoft.com/office/drawing/2014/main" val="3745944500"/>
                  </a:ext>
                </a:extLst>
              </a:tr>
              <a:tr h="370840">
                <a:tc>
                  <a:txBody>
                    <a:bodyPr/>
                    <a:lstStyle/>
                    <a:p>
                      <a:r>
                        <a:rPr lang="en-US" dirty="0"/>
                        <a:t>SECOND:</a:t>
                      </a:r>
                    </a:p>
                  </a:txBody>
                  <a:tcPr/>
                </a:tc>
                <a:tc>
                  <a:txBody>
                    <a:bodyPr/>
                    <a:lstStyle/>
                    <a:p>
                      <a:r>
                        <a:rPr lang="en-US" dirty="0"/>
                        <a:t>X</a:t>
                      </a:r>
                    </a:p>
                  </a:txBody>
                  <a:tcPr/>
                </a:tc>
                <a:tc>
                  <a:txBody>
                    <a:bodyPr/>
                    <a:lstStyle/>
                    <a:p>
                      <a:r>
                        <a:rPr lang="en-US" dirty="0"/>
                        <a:t>X</a:t>
                      </a:r>
                    </a:p>
                  </a:txBody>
                  <a:tcPr/>
                </a:tc>
                <a:tc>
                  <a:txBody>
                    <a:bodyPr/>
                    <a:lstStyle/>
                    <a:p>
                      <a:r>
                        <a:rPr lang="en-US" dirty="0"/>
                        <a:t>Not a citizen</a:t>
                      </a:r>
                    </a:p>
                  </a:txBody>
                  <a:tcPr/>
                </a:tc>
                <a:tc>
                  <a:txBody>
                    <a:bodyPr/>
                    <a:lstStyle/>
                    <a:p>
                      <a:r>
                        <a:rPr lang="en-US" dirty="0"/>
                        <a:t>X</a:t>
                      </a:r>
                    </a:p>
                  </a:txBody>
                  <a:tcPr/>
                </a:tc>
                <a:tc>
                  <a:txBody>
                    <a:bodyPr/>
                    <a:lstStyle/>
                    <a:p>
                      <a:r>
                        <a:rPr lang="en-US" dirty="0">
                          <a:highlight>
                            <a:srgbClr val="FFFF00"/>
                          </a:highlight>
                        </a:rPr>
                        <a:t>Chinese</a:t>
                      </a:r>
                      <a:r>
                        <a:rPr lang="en-US" dirty="0"/>
                        <a:t>, English</a:t>
                      </a:r>
                    </a:p>
                  </a:txBody>
                  <a:tcPr/>
                </a:tc>
                <a:tc>
                  <a:txBody>
                    <a:bodyPr/>
                    <a:lstStyle/>
                    <a:p>
                      <a:r>
                        <a:rPr lang="en-US" dirty="0"/>
                        <a:t>Speaks but not well</a:t>
                      </a:r>
                    </a:p>
                  </a:txBody>
                  <a:tcPr/>
                </a:tc>
                <a:tc>
                  <a:txBody>
                    <a:bodyPr/>
                    <a:lstStyle/>
                    <a:p>
                      <a:endParaRPr lang="en-US" dirty="0"/>
                    </a:p>
                  </a:txBody>
                  <a:tcPr/>
                </a:tc>
                <a:tc>
                  <a:txBody>
                    <a:bodyPr/>
                    <a:lstStyle/>
                    <a:p>
                      <a:r>
                        <a:rPr lang="en-US" dirty="0"/>
                        <a:t>2 years, college</a:t>
                      </a:r>
                    </a:p>
                  </a:txBody>
                  <a:tcPr/>
                </a:tc>
                <a:tc>
                  <a:txBody>
                    <a:bodyPr/>
                    <a:lstStyle/>
                    <a:p>
                      <a:endParaRPr lang="en-US" dirty="0"/>
                    </a:p>
                  </a:txBody>
                  <a:tcPr/>
                </a:tc>
                <a:extLst>
                  <a:ext uri="{0D108BD9-81ED-4DB2-BD59-A6C34878D82A}">
                    <a16:rowId xmlns:a16="http://schemas.microsoft.com/office/drawing/2014/main" val="3956599917"/>
                  </a:ext>
                </a:extLst>
              </a:tr>
            </a:tbl>
          </a:graphicData>
        </a:graphic>
      </p:graphicFrame>
      <p:graphicFrame>
        <p:nvGraphicFramePr>
          <p:cNvPr id="7" name="Table 6">
            <a:extLst>
              <a:ext uri="{FF2B5EF4-FFF2-40B4-BE49-F238E27FC236}">
                <a16:creationId xmlns:a16="http://schemas.microsoft.com/office/drawing/2014/main" id="{0A48B339-23CC-A4B1-E809-581CCAE23567}"/>
              </a:ext>
            </a:extLst>
          </p:cNvPr>
          <p:cNvGraphicFramePr>
            <a:graphicFrameLocks noGrp="1"/>
          </p:cNvGraphicFramePr>
          <p:nvPr>
            <p:extLst>
              <p:ext uri="{D42A27DB-BD31-4B8C-83A1-F6EECF244321}">
                <p14:modId xmlns:p14="http://schemas.microsoft.com/office/powerpoint/2010/main" val="2420803959"/>
              </p:ext>
            </p:extLst>
          </p:nvPr>
        </p:nvGraphicFramePr>
        <p:xfrm>
          <a:off x="838200" y="5145109"/>
          <a:ext cx="8128000" cy="138176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731738058"/>
                    </a:ext>
                  </a:extLst>
                </a:gridCol>
                <a:gridCol w="2007992">
                  <a:extLst>
                    <a:ext uri="{9D8B030D-6E8A-4147-A177-3AD203B41FA5}">
                      <a16:colId xmlns:a16="http://schemas.microsoft.com/office/drawing/2014/main" val="3136648509"/>
                    </a:ext>
                  </a:extLst>
                </a:gridCol>
                <a:gridCol w="1365337">
                  <a:extLst>
                    <a:ext uri="{9D8B030D-6E8A-4147-A177-3AD203B41FA5}">
                      <a16:colId xmlns:a16="http://schemas.microsoft.com/office/drawing/2014/main" val="2020283136"/>
                    </a:ext>
                  </a:extLst>
                </a:gridCol>
                <a:gridCol w="1503471">
                  <a:extLst>
                    <a:ext uri="{9D8B030D-6E8A-4147-A177-3AD203B41FA5}">
                      <a16:colId xmlns:a16="http://schemas.microsoft.com/office/drawing/2014/main" val="1995222916"/>
                    </a:ext>
                  </a:extLst>
                </a:gridCol>
                <a:gridCol w="1625600">
                  <a:extLst>
                    <a:ext uri="{9D8B030D-6E8A-4147-A177-3AD203B41FA5}">
                      <a16:colId xmlns:a16="http://schemas.microsoft.com/office/drawing/2014/main" val="1324446383"/>
                    </a:ext>
                  </a:extLst>
                </a:gridCol>
              </a:tblGrid>
              <a:tr h="370840">
                <a:tc>
                  <a:txBody>
                    <a:bodyPr/>
                    <a:lstStyle/>
                    <a:p>
                      <a:endParaRPr lang="en-US" dirty="0"/>
                    </a:p>
                  </a:txBody>
                  <a:tcPr/>
                </a:tc>
                <a:tc>
                  <a:txBody>
                    <a:bodyPr/>
                    <a:lstStyle/>
                    <a:p>
                      <a:r>
                        <a:rPr lang="en-US" dirty="0"/>
                        <a:t>OCC</a:t>
                      </a:r>
                    </a:p>
                  </a:txBody>
                  <a:tcPr/>
                </a:tc>
                <a:tc>
                  <a:txBody>
                    <a:bodyPr/>
                    <a:lstStyle/>
                    <a:p>
                      <a:r>
                        <a:rPr lang="en-US" dirty="0"/>
                        <a:t>UHRSWORK</a:t>
                      </a:r>
                    </a:p>
                  </a:txBody>
                  <a:tcPr/>
                </a:tc>
                <a:tc>
                  <a:txBody>
                    <a:bodyPr/>
                    <a:lstStyle/>
                    <a:p>
                      <a:r>
                        <a:rPr lang="en-US" dirty="0"/>
                        <a:t>TRANWORK</a:t>
                      </a:r>
                    </a:p>
                  </a:txBody>
                  <a:tcPr/>
                </a:tc>
                <a:tc>
                  <a:txBody>
                    <a:bodyPr/>
                    <a:lstStyle/>
                    <a:p>
                      <a:r>
                        <a:rPr lang="en-US" dirty="0"/>
                        <a:t>CARPOOL</a:t>
                      </a:r>
                    </a:p>
                  </a:txBody>
                  <a:tcPr/>
                </a:tc>
                <a:extLst>
                  <a:ext uri="{0D108BD9-81ED-4DB2-BD59-A6C34878D82A}">
                    <a16:rowId xmlns:a16="http://schemas.microsoft.com/office/drawing/2014/main" val="100211684"/>
                  </a:ext>
                </a:extLst>
              </a:tr>
              <a:tr h="370840">
                <a:tc>
                  <a:txBody>
                    <a:bodyPr/>
                    <a:lstStyle/>
                    <a:p>
                      <a:r>
                        <a:rPr lang="en-US" dirty="0"/>
                        <a:t>FIRST:</a:t>
                      </a:r>
                    </a:p>
                  </a:txBody>
                  <a:tcPr/>
                </a:tc>
                <a:tc>
                  <a:txBody>
                    <a:bodyPr/>
                    <a:lstStyle/>
                    <a:p>
                      <a:r>
                        <a:rPr lang="en-US" dirty="0">
                          <a:highlight>
                            <a:srgbClr val="FFFF00"/>
                          </a:highlight>
                        </a:rPr>
                        <a:t>Management, Business, Financial</a:t>
                      </a:r>
                    </a:p>
                  </a:txBody>
                  <a:tcPr/>
                </a:tc>
                <a:tc>
                  <a:txBody>
                    <a:bodyPr/>
                    <a:lstStyle/>
                    <a:p>
                      <a:r>
                        <a:rPr lang="en-US" dirty="0">
                          <a:highlight>
                            <a:srgbClr val="FFFF00"/>
                          </a:highlight>
                        </a:rPr>
                        <a:t>70</a:t>
                      </a:r>
                    </a:p>
                  </a:txBody>
                  <a:tcPr/>
                </a:tc>
                <a:tc>
                  <a:txBody>
                    <a:bodyPr/>
                    <a:lstStyle/>
                    <a:p>
                      <a:r>
                        <a:rPr lang="en-US" dirty="0"/>
                        <a:t>Auto</a:t>
                      </a:r>
                    </a:p>
                  </a:txBody>
                  <a:tcPr/>
                </a:tc>
                <a:tc>
                  <a:txBody>
                    <a:bodyPr/>
                    <a:lstStyle/>
                    <a:p>
                      <a:r>
                        <a:rPr lang="en-US" dirty="0"/>
                        <a:t>Drives alone</a:t>
                      </a:r>
                    </a:p>
                  </a:txBody>
                  <a:tcPr/>
                </a:tc>
                <a:extLst>
                  <a:ext uri="{0D108BD9-81ED-4DB2-BD59-A6C34878D82A}">
                    <a16:rowId xmlns:a16="http://schemas.microsoft.com/office/drawing/2014/main" val="359515360"/>
                  </a:ext>
                </a:extLst>
              </a:tr>
              <a:tr h="370840">
                <a:tc>
                  <a:txBody>
                    <a:bodyPr/>
                    <a:lstStyle/>
                    <a:p>
                      <a:r>
                        <a:rPr lang="en-US" dirty="0"/>
                        <a:t>SECOND:</a:t>
                      </a:r>
                    </a:p>
                  </a:txBody>
                  <a:tcPr/>
                </a:tc>
                <a:tc>
                  <a:txBody>
                    <a:bodyPr/>
                    <a:lstStyle/>
                    <a:p>
                      <a:r>
                        <a:rPr lang="en-US" dirty="0">
                          <a:highlight>
                            <a:srgbClr val="FFFF00"/>
                          </a:highlight>
                        </a:rPr>
                        <a:t>Service</a:t>
                      </a:r>
                    </a:p>
                  </a:txBody>
                  <a:tcPr/>
                </a:tc>
                <a:tc>
                  <a:txBody>
                    <a:bodyPr/>
                    <a:lstStyle/>
                    <a:p>
                      <a:r>
                        <a:rPr lang="en-US" dirty="0">
                          <a:highlight>
                            <a:srgbClr val="FFFF00"/>
                          </a:highlight>
                        </a:rPr>
                        <a:t>60</a:t>
                      </a:r>
                    </a:p>
                  </a:txBody>
                  <a:tcPr/>
                </a:tc>
                <a:tc>
                  <a:txBody>
                    <a:bodyPr/>
                    <a:lstStyle/>
                    <a:p>
                      <a:endParaRPr lang="en-US" dirty="0"/>
                    </a:p>
                  </a:txBody>
                  <a:tcPr/>
                </a:tc>
                <a:tc>
                  <a:txBody>
                    <a:bodyPr/>
                    <a:lstStyle/>
                    <a:p>
                      <a:r>
                        <a:rPr lang="en-US" dirty="0"/>
                        <a:t>Carpools</a:t>
                      </a:r>
                    </a:p>
                  </a:txBody>
                  <a:tcPr/>
                </a:tc>
                <a:extLst>
                  <a:ext uri="{0D108BD9-81ED-4DB2-BD59-A6C34878D82A}">
                    <a16:rowId xmlns:a16="http://schemas.microsoft.com/office/drawing/2014/main" val="2296630166"/>
                  </a:ext>
                </a:extLst>
              </a:tr>
            </a:tbl>
          </a:graphicData>
        </a:graphic>
      </p:graphicFrame>
    </p:spTree>
    <p:extLst>
      <p:ext uri="{BB962C8B-B14F-4D97-AF65-F5344CB8AC3E}">
        <p14:creationId xmlns:p14="http://schemas.microsoft.com/office/powerpoint/2010/main" val="11032720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71350-A3ED-A688-2B24-BA3F62A74766}"/>
              </a:ext>
            </a:extLst>
          </p:cNvPr>
          <p:cNvSpPr>
            <a:spLocks noGrp="1"/>
          </p:cNvSpPr>
          <p:nvPr>
            <p:ph type="title"/>
          </p:nvPr>
        </p:nvSpPr>
        <p:spPr/>
        <p:txBody>
          <a:bodyPr/>
          <a:lstStyle/>
          <a:p>
            <a:r>
              <a:rPr lang="en-US" dirty="0"/>
              <a:t>Guidance – Tier 1</a:t>
            </a:r>
          </a:p>
        </p:txBody>
      </p:sp>
      <p:sp>
        <p:nvSpPr>
          <p:cNvPr id="3" name="Content Placeholder 2">
            <a:extLst>
              <a:ext uri="{FF2B5EF4-FFF2-40B4-BE49-F238E27FC236}">
                <a16:creationId xmlns:a16="http://schemas.microsoft.com/office/drawing/2014/main" id="{873F4307-84EF-B674-BADA-1A70E57CB474}"/>
              </a:ext>
            </a:extLst>
          </p:cNvPr>
          <p:cNvSpPr>
            <a:spLocks noGrp="1"/>
          </p:cNvSpPr>
          <p:nvPr>
            <p:ph idx="1"/>
          </p:nvPr>
        </p:nvSpPr>
        <p:spPr/>
        <p:txBody>
          <a:bodyPr>
            <a:normAutofit fontScale="92500"/>
          </a:bodyPr>
          <a:lstStyle/>
          <a:p>
            <a:r>
              <a:rPr lang="en-US" dirty="0"/>
              <a:t>Start: [6, 2, 0, 0, 0, 2, 84, 4, 1, 0, 457, 3, 45, 23, 6, 1, 2, 3, 0, 10, 0, 0]</a:t>
            </a:r>
          </a:p>
          <a:p>
            <a:r>
              <a:rPr lang="en-US" dirty="0"/>
              <a:t>[6, 2, 0, 0, 0, 2, 84, 4, 1, 0, 457, </a:t>
            </a:r>
            <a:r>
              <a:rPr lang="en-US" dirty="0">
                <a:highlight>
                  <a:srgbClr val="FFFF00"/>
                </a:highlight>
              </a:rPr>
              <a:t>2</a:t>
            </a:r>
            <a:r>
              <a:rPr lang="en-US" dirty="0"/>
              <a:t>, 45, 23, 6, 1, 2, 3, 0, 10, 0, 0]</a:t>
            </a:r>
          </a:p>
          <a:p>
            <a:pPr lvl="1"/>
            <a:r>
              <a:rPr lang="en-US" dirty="0"/>
              <a:t>CITIZEN </a:t>
            </a:r>
            <a:r>
              <a:rPr lang="en-US" dirty="0">
                <a:sym typeface="Wingdings" pitchFamily="2" charset="2"/>
              </a:rPr>
              <a:t> 2 (Naturalized). 3% increase of moving to Tier 2.</a:t>
            </a:r>
          </a:p>
          <a:p>
            <a:r>
              <a:rPr lang="en-US" dirty="0"/>
              <a:t>[6, 2, 0, 0, 0, 2, 84, 4, 1, 0, 457, </a:t>
            </a:r>
            <a:r>
              <a:rPr lang="en-US" dirty="0">
                <a:highlight>
                  <a:srgbClr val="FFFF00"/>
                </a:highlight>
              </a:rPr>
              <a:t>2</a:t>
            </a:r>
            <a:r>
              <a:rPr lang="en-US" dirty="0"/>
              <a:t>, 45, </a:t>
            </a:r>
            <a:r>
              <a:rPr lang="en-US" dirty="0">
                <a:highlight>
                  <a:srgbClr val="FFFF00"/>
                </a:highlight>
              </a:rPr>
              <a:t>57</a:t>
            </a:r>
            <a:r>
              <a:rPr lang="en-US" dirty="0"/>
              <a:t>, 6, 1, 2, 3, 0, 10, 0, 0]</a:t>
            </a:r>
          </a:p>
          <a:p>
            <a:pPr lvl="1"/>
            <a:r>
              <a:rPr lang="en-US" dirty="0"/>
              <a:t>LANGUAGE </a:t>
            </a:r>
            <a:r>
              <a:rPr lang="en-US" dirty="0">
                <a:sym typeface="Wingdings" pitchFamily="2" charset="2"/>
              </a:rPr>
              <a:t> 57 (Arabic). 2% increase of moving to Tier 2.</a:t>
            </a:r>
          </a:p>
          <a:p>
            <a:r>
              <a:rPr lang="en-US" dirty="0"/>
              <a:t>[6, 2, 0, 0, 0, 2, 84, 4, 1, 0, 457, </a:t>
            </a:r>
            <a:r>
              <a:rPr lang="en-US" dirty="0">
                <a:highlight>
                  <a:srgbClr val="FFFF00"/>
                </a:highlight>
              </a:rPr>
              <a:t>2</a:t>
            </a:r>
            <a:r>
              <a:rPr lang="en-US" dirty="0"/>
              <a:t>, 45, </a:t>
            </a:r>
            <a:r>
              <a:rPr lang="en-US" dirty="0">
                <a:highlight>
                  <a:srgbClr val="FFFF00"/>
                </a:highlight>
              </a:rPr>
              <a:t>57</a:t>
            </a:r>
            <a:r>
              <a:rPr lang="en-US" dirty="0"/>
              <a:t>, 6, 1, </a:t>
            </a:r>
            <a:r>
              <a:rPr lang="en-US" dirty="0">
                <a:highlight>
                  <a:srgbClr val="FFFF00"/>
                </a:highlight>
              </a:rPr>
              <a:t>7</a:t>
            </a:r>
            <a:r>
              <a:rPr lang="en-US" dirty="0"/>
              <a:t>, 3, 0, 10, 0, 0]</a:t>
            </a:r>
          </a:p>
          <a:p>
            <a:pPr lvl="1"/>
            <a:r>
              <a:rPr lang="en-US" dirty="0"/>
              <a:t>EDUC </a:t>
            </a:r>
            <a:r>
              <a:rPr lang="en-US" dirty="0">
                <a:sym typeface="Wingdings" pitchFamily="2" charset="2"/>
              </a:rPr>
              <a:t> 7 (1 year of college). 4% increase for Tier 2. 2% increase for Tier 3.</a:t>
            </a:r>
          </a:p>
          <a:p>
            <a:r>
              <a:rPr lang="en-US" dirty="0"/>
              <a:t>End: [6, 2, 0, 0, 0, 2, 84, 4, 1, 0, 457, </a:t>
            </a:r>
            <a:r>
              <a:rPr lang="en-US" dirty="0">
                <a:highlight>
                  <a:srgbClr val="FFFF00"/>
                </a:highlight>
              </a:rPr>
              <a:t>2</a:t>
            </a:r>
            <a:r>
              <a:rPr lang="en-US" dirty="0"/>
              <a:t>, 45, </a:t>
            </a:r>
            <a:r>
              <a:rPr lang="en-US" dirty="0">
                <a:highlight>
                  <a:srgbClr val="FFFF00"/>
                </a:highlight>
              </a:rPr>
              <a:t>57</a:t>
            </a:r>
            <a:r>
              <a:rPr lang="en-US" dirty="0"/>
              <a:t>, 6, 1, </a:t>
            </a:r>
            <a:r>
              <a:rPr lang="en-US" dirty="0">
                <a:highlight>
                  <a:srgbClr val="FFFF00"/>
                </a:highlight>
              </a:rPr>
              <a:t>7</a:t>
            </a:r>
            <a:r>
              <a:rPr lang="en-US" dirty="0"/>
              <a:t>, 3, </a:t>
            </a:r>
            <a:r>
              <a:rPr lang="en-US" dirty="0">
                <a:highlight>
                  <a:srgbClr val="FFFF00"/>
                </a:highlight>
              </a:rPr>
              <a:t>3550</a:t>
            </a:r>
            <a:r>
              <a:rPr lang="en-US" dirty="0"/>
              <a:t>, </a:t>
            </a:r>
            <a:r>
              <a:rPr lang="en-US" dirty="0">
                <a:highlight>
                  <a:srgbClr val="FFFF00"/>
                </a:highlight>
              </a:rPr>
              <a:t>50</a:t>
            </a:r>
            <a:r>
              <a:rPr lang="en-US" dirty="0"/>
              <a:t>, 0, </a:t>
            </a:r>
            <a:r>
              <a:rPr lang="en-US" dirty="0">
                <a:highlight>
                  <a:srgbClr val="FFFF00"/>
                </a:highlight>
              </a:rPr>
              <a:t>2</a:t>
            </a:r>
            <a:r>
              <a:rPr lang="en-US" dirty="0"/>
              <a:t>]</a:t>
            </a:r>
          </a:p>
          <a:p>
            <a:pPr lvl="1"/>
            <a:r>
              <a:rPr lang="en-US" dirty="0"/>
              <a:t>OCC </a:t>
            </a:r>
            <a:r>
              <a:rPr lang="en-US" dirty="0">
                <a:sym typeface="Wingdings" pitchFamily="2" charset="2"/>
              </a:rPr>
              <a:t> 3550 (Healthcare). UHRSWORK  50. CARPOOL  2 (Carpools).</a:t>
            </a:r>
          </a:p>
          <a:p>
            <a:pPr lvl="1"/>
            <a:r>
              <a:rPr lang="en-US" dirty="0">
                <a:sym typeface="Wingdings" pitchFamily="2" charset="2"/>
              </a:rPr>
              <a:t>27% increase for Tier 2. 24% increase for Tier 3.</a:t>
            </a:r>
            <a:endParaRPr lang="en-US" dirty="0"/>
          </a:p>
          <a:p>
            <a:pPr lvl="1"/>
            <a:endParaRPr lang="en-US" dirty="0"/>
          </a:p>
          <a:p>
            <a:endParaRPr lang="en-US" dirty="0"/>
          </a:p>
          <a:p>
            <a:endParaRPr lang="en-US" dirty="0"/>
          </a:p>
          <a:p>
            <a:pPr lvl="1"/>
            <a:endParaRPr lang="en-US" dirty="0"/>
          </a:p>
        </p:txBody>
      </p:sp>
    </p:spTree>
    <p:extLst>
      <p:ext uri="{BB962C8B-B14F-4D97-AF65-F5344CB8AC3E}">
        <p14:creationId xmlns:p14="http://schemas.microsoft.com/office/powerpoint/2010/main" val="3031969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D8719-B753-39EB-0D38-5E5F15A6F8FB}"/>
              </a:ext>
            </a:extLst>
          </p:cNvPr>
          <p:cNvSpPr>
            <a:spLocks noGrp="1"/>
          </p:cNvSpPr>
          <p:nvPr>
            <p:ph type="title"/>
          </p:nvPr>
        </p:nvSpPr>
        <p:spPr/>
        <p:txBody>
          <a:bodyPr/>
          <a:lstStyle/>
          <a:p>
            <a:r>
              <a:rPr lang="en-US" dirty="0"/>
              <a:t>Guidance – Tier 4</a:t>
            </a:r>
          </a:p>
        </p:txBody>
      </p:sp>
      <p:sp>
        <p:nvSpPr>
          <p:cNvPr id="3" name="Content Placeholder 2">
            <a:extLst>
              <a:ext uri="{FF2B5EF4-FFF2-40B4-BE49-F238E27FC236}">
                <a16:creationId xmlns:a16="http://schemas.microsoft.com/office/drawing/2014/main" id="{D7D90463-71A4-780B-95C5-C70339BBA1E7}"/>
              </a:ext>
            </a:extLst>
          </p:cNvPr>
          <p:cNvSpPr>
            <a:spLocks noGrp="1"/>
          </p:cNvSpPr>
          <p:nvPr>
            <p:ph idx="1"/>
          </p:nvPr>
        </p:nvSpPr>
        <p:spPr/>
        <p:txBody>
          <a:bodyPr>
            <a:normAutofit fontScale="92500" lnSpcReduction="10000"/>
          </a:bodyPr>
          <a:lstStyle/>
          <a:p>
            <a:r>
              <a:rPr lang="en-US" dirty="0"/>
              <a:t>Start: [53, 3, 13, 3, 2, 1, 35, 1, 6, 0, 521, 3, 10, 40, 5, 1, 11, 1, 1980, 40, 10, 2]</a:t>
            </a:r>
          </a:p>
          <a:p>
            <a:r>
              <a:rPr lang="en-US" dirty="0"/>
              <a:t>[53, 3, 13, 3, 2, 1, 35, 1, 6, 0, 521, </a:t>
            </a:r>
            <a:r>
              <a:rPr lang="en-US" dirty="0">
                <a:highlight>
                  <a:srgbClr val="FFFF00"/>
                </a:highlight>
              </a:rPr>
              <a:t>2</a:t>
            </a:r>
            <a:r>
              <a:rPr lang="en-US" dirty="0"/>
              <a:t>, 10, </a:t>
            </a:r>
            <a:r>
              <a:rPr lang="en-US" dirty="0">
                <a:highlight>
                  <a:srgbClr val="FFFF00"/>
                </a:highlight>
              </a:rPr>
              <a:t>11</a:t>
            </a:r>
            <a:r>
              <a:rPr lang="en-US" dirty="0"/>
              <a:t>, 5, 1, 11, 1, 1980, 40, 10, 2]</a:t>
            </a:r>
          </a:p>
          <a:p>
            <a:pPr lvl="1"/>
            <a:r>
              <a:rPr lang="en-US" dirty="0"/>
              <a:t>CITIZEN </a:t>
            </a:r>
            <a:r>
              <a:rPr lang="en-US" dirty="0">
                <a:sym typeface="Wingdings" pitchFamily="2" charset="2"/>
              </a:rPr>
              <a:t> (Naturalized). </a:t>
            </a:r>
            <a:r>
              <a:rPr lang="en-US" dirty="0"/>
              <a:t>LANGUAGE </a:t>
            </a:r>
            <a:r>
              <a:rPr lang="en-US" dirty="0">
                <a:sym typeface="Wingdings" pitchFamily="2" charset="2"/>
              </a:rPr>
              <a:t> 11 (French).</a:t>
            </a:r>
          </a:p>
          <a:p>
            <a:pPr lvl="1"/>
            <a:r>
              <a:rPr lang="en-US" dirty="0">
                <a:sym typeface="Wingdings" pitchFamily="2" charset="2"/>
              </a:rPr>
              <a:t>49% decrease for Tier 4. 25% increase for Tier 3.</a:t>
            </a:r>
          </a:p>
          <a:p>
            <a:r>
              <a:rPr lang="en-US" dirty="0"/>
              <a:t>[53, 3, 13, 3, 2, 1, 35, 1, 6, 0, 521, </a:t>
            </a:r>
            <a:r>
              <a:rPr lang="en-US" dirty="0">
                <a:highlight>
                  <a:srgbClr val="FFFF00"/>
                </a:highlight>
              </a:rPr>
              <a:t>2</a:t>
            </a:r>
            <a:r>
              <a:rPr lang="en-US" dirty="0"/>
              <a:t>, 10, </a:t>
            </a:r>
            <a:r>
              <a:rPr lang="en-US" dirty="0">
                <a:highlight>
                  <a:srgbClr val="FFFF00"/>
                </a:highlight>
              </a:rPr>
              <a:t>11</a:t>
            </a:r>
            <a:r>
              <a:rPr lang="en-US" dirty="0"/>
              <a:t>, </a:t>
            </a:r>
            <a:r>
              <a:rPr lang="en-US" dirty="0">
                <a:highlight>
                  <a:srgbClr val="FFFF00"/>
                </a:highlight>
              </a:rPr>
              <a:t>4</a:t>
            </a:r>
            <a:r>
              <a:rPr lang="en-US" dirty="0"/>
              <a:t>, 1, 11, 1, 1980, </a:t>
            </a:r>
            <a:r>
              <a:rPr lang="en-US" dirty="0">
                <a:highlight>
                  <a:srgbClr val="FFFF00"/>
                </a:highlight>
              </a:rPr>
              <a:t>50</a:t>
            </a:r>
            <a:r>
              <a:rPr lang="en-US" dirty="0"/>
              <a:t>, 10, 2]</a:t>
            </a:r>
            <a:endParaRPr lang="en-US" dirty="0">
              <a:sym typeface="Wingdings" pitchFamily="2" charset="2"/>
            </a:endParaRPr>
          </a:p>
          <a:p>
            <a:pPr lvl="1"/>
            <a:r>
              <a:rPr lang="en-US" dirty="0">
                <a:sym typeface="Wingdings" pitchFamily="2" charset="2"/>
              </a:rPr>
              <a:t>SPEAKENG  4 (Speaks very well). UHRSWORK  50.</a:t>
            </a:r>
          </a:p>
          <a:p>
            <a:pPr lvl="1"/>
            <a:r>
              <a:rPr lang="en-US" dirty="0">
                <a:sym typeface="Wingdings" pitchFamily="2" charset="2"/>
              </a:rPr>
              <a:t>17% decrease for Tier 4. 12% increase for Tier 3.</a:t>
            </a:r>
          </a:p>
          <a:p>
            <a:r>
              <a:rPr lang="en-US" dirty="0"/>
              <a:t>End: [</a:t>
            </a:r>
            <a:r>
              <a:rPr lang="en-US" dirty="0">
                <a:highlight>
                  <a:srgbClr val="FFFF00"/>
                </a:highlight>
              </a:rPr>
              <a:t>51</a:t>
            </a:r>
            <a:r>
              <a:rPr lang="en-US" dirty="0"/>
              <a:t>, 3, 13, 3, 2, 1, 35, 1, 6, 0, 521, </a:t>
            </a:r>
            <a:r>
              <a:rPr lang="en-US" dirty="0">
                <a:highlight>
                  <a:srgbClr val="FFFF00"/>
                </a:highlight>
              </a:rPr>
              <a:t>2</a:t>
            </a:r>
            <a:r>
              <a:rPr lang="en-US" dirty="0"/>
              <a:t>, 10, </a:t>
            </a:r>
            <a:r>
              <a:rPr lang="en-US" dirty="0">
                <a:highlight>
                  <a:srgbClr val="FFFF00"/>
                </a:highlight>
              </a:rPr>
              <a:t>11</a:t>
            </a:r>
            <a:r>
              <a:rPr lang="en-US" dirty="0"/>
              <a:t>, </a:t>
            </a:r>
            <a:r>
              <a:rPr lang="en-US" dirty="0">
                <a:highlight>
                  <a:srgbClr val="FFFF00"/>
                </a:highlight>
              </a:rPr>
              <a:t>4</a:t>
            </a:r>
            <a:r>
              <a:rPr lang="en-US" dirty="0"/>
              <a:t>, 1, 11, 1, 1980, </a:t>
            </a:r>
            <a:r>
              <a:rPr lang="en-US" dirty="0">
                <a:highlight>
                  <a:srgbClr val="FFFF00"/>
                </a:highlight>
              </a:rPr>
              <a:t>50</a:t>
            </a:r>
            <a:r>
              <a:rPr lang="en-US" dirty="0"/>
              <a:t>, 10, </a:t>
            </a:r>
            <a:r>
              <a:rPr lang="en-US" dirty="0">
                <a:highlight>
                  <a:srgbClr val="FFFF00"/>
                </a:highlight>
              </a:rPr>
              <a:t>1</a:t>
            </a:r>
            <a:r>
              <a:rPr lang="en-US" dirty="0"/>
              <a:t>]</a:t>
            </a:r>
          </a:p>
          <a:p>
            <a:pPr lvl="1"/>
            <a:r>
              <a:rPr lang="en-US" dirty="0">
                <a:sym typeface="Wingdings" pitchFamily="2" charset="2"/>
              </a:rPr>
              <a:t>STATEFIP  51 (Virginia). CARPOOL  1 (Drive alone)</a:t>
            </a:r>
          </a:p>
          <a:p>
            <a:pPr lvl="1"/>
            <a:r>
              <a:rPr lang="en-US" dirty="0">
                <a:sym typeface="Wingdings" pitchFamily="2" charset="2"/>
              </a:rPr>
              <a:t>17% decrease for Tier 4. 15% increase for Tier 3. </a:t>
            </a:r>
          </a:p>
          <a:p>
            <a:endParaRPr lang="en-US" dirty="0">
              <a:sym typeface="Wingdings" pitchFamily="2" charset="2"/>
            </a:endParaRPr>
          </a:p>
          <a:p>
            <a:pPr lvl="1"/>
            <a:endParaRPr lang="en-US" dirty="0">
              <a:sym typeface="Wingdings" pitchFamily="2" charset="2"/>
            </a:endParaRPr>
          </a:p>
          <a:p>
            <a:pPr lvl="1"/>
            <a:endParaRPr lang="en-US" dirty="0">
              <a:sym typeface="Wingdings" pitchFamily="2" charset="2"/>
            </a:endParaRPr>
          </a:p>
          <a:p>
            <a:pPr lvl="1"/>
            <a:endParaRPr lang="en-US" dirty="0"/>
          </a:p>
        </p:txBody>
      </p:sp>
    </p:spTree>
    <p:extLst>
      <p:ext uri="{BB962C8B-B14F-4D97-AF65-F5344CB8AC3E}">
        <p14:creationId xmlns:p14="http://schemas.microsoft.com/office/powerpoint/2010/main" val="29460838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4B1FD-6939-DB3B-DFFD-9C1F8C27A957}"/>
              </a:ext>
            </a:extLst>
          </p:cNvPr>
          <p:cNvSpPr>
            <a:spLocks noGrp="1"/>
          </p:cNvSpPr>
          <p:nvPr>
            <p:ph type="title"/>
          </p:nvPr>
        </p:nvSpPr>
        <p:spPr/>
        <p:txBody>
          <a:bodyPr/>
          <a:lstStyle/>
          <a:p>
            <a:r>
              <a:rPr lang="en-US" dirty="0"/>
              <a:t>Guidance - Mixed</a:t>
            </a:r>
          </a:p>
        </p:txBody>
      </p:sp>
      <p:sp>
        <p:nvSpPr>
          <p:cNvPr id="3" name="Content Placeholder 2">
            <a:extLst>
              <a:ext uri="{FF2B5EF4-FFF2-40B4-BE49-F238E27FC236}">
                <a16:creationId xmlns:a16="http://schemas.microsoft.com/office/drawing/2014/main" id="{2EE8AAFB-C86C-5458-78D5-79185A569791}"/>
              </a:ext>
            </a:extLst>
          </p:cNvPr>
          <p:cNvSpPr>
            <a:spLocks noGrp="1"/>
          </p:cNvSpPr>
          <p:nvPr>
            <p:ph idx="1"/>
          </p:nvPr>
        </p:nvSpPr>
        <p:spPr/>
        <p:txBody>
          <a:bodyPr>
            <a:normAutofit fontScale="92500" lnSpcReduction="10000"/>
          </a:bodyPr>
          <a:lstStyle/>
          <a:p>
            <a:r>
              <a:rPr lang="en-US" dirty="0"/>
              <a:t>Start: [26, 3, 13, 3, 2, 1, 43, 1, 7, 1, 200, 3, 20, 12, 5, 1, 6, 1, 7640, 40, 10, 1]</a:t>
            </a:r>
          </a:p>
          <a:p>
            <a:r>
              <a:rPr lang="en-US" dirty="0"/>
              <a:t>[</a:t>
            </a:r>
            <a:r>
              <a:rPr lang="en-US" dirty="0">
                <a:highlight>
                  <a:srgbClr val="FFFF00"/>
                </a:highlight>
              </a:rPr>
              <a:t>27</a:t>
            </a:r>
            <a:r>
              <a:rPr lang="en-US" dirty="0"/>
              <a:t>, 3, 13, 3, 2, 1, 43, 1, 7, 1, 200, </a:t>
            </a:r>
            <a:r>
              <a:rPr lang="en-US" dirty="0">
                <a:highlight>
                  <a:srgbClr val="FFFF00"/>
                </a:highlight>
              </a:rPr>
              <a:t>2</a:t>
            </a:r>
            <a:r>
              <a:rPr lang="en-US" dirty="0"/>
              <a:t>, 20, 12, 5, 1, 6, 1, 7640, 40, 10, 1]</a:t>
            </a:r>
          </a:p>
          <a:p>
            <a:pPr lvl="1"/>
            <a:r>
              <a:rPr lang="en-US" dirty="0"/>
              <a:t>STATEFIP </a:t>
            </a:r>
            <a:r>
              <a:rPr lang="en-US" dirty="0">
                <a:sym typeface="Wingdings" pitchFamily="2" charset="2"/>
              </a:rPr>
              <a:t> 27 (Minnesota). CITIZEN  2 (Naturalized)</a:t>
            </a:r>
          </a:p>
          <a:p>
            <a:pPr lvl="1"/>
            <a:r>
              <a:rPr lang="en-US" dirty="0">
                <a:sym typeface="Wingdings" pitchFamily="2" charset="2"/>
              </a:rPr>
              <a:t>11% increase for Tier 3. 4% increase for Tier 4.</a:t>
            </a:r>
          </a:p>
          <a:p>
            <a:r>
              <a:rPr lang="en-US" dirty="0"/>
              <a:t>[</a:t>
            </a:r>
            <a:r>
              <a:rPr lang="en-US" dirty="0">
                <a:highlight>
                  <a:srgbClr val="FFFF00"/>
                </a:highlight>
              </a:rPr>
              <a:t>27</a:t>
            </a:r>
            <a:r>
              <a:rPr lang="en-US" dirty="0"/>
              <a:t>, 3, 13, 3, 2, 1, 43, 1, 7, 1, 200, </a:t>
            </a:r>
            <a:r>
              <a:rPr lang="en-US" dirty="0">
                <a:highlight>
                  <a:srgbClr val="FFFF00"/>
                </a:highlight>
              </a:rPr>
              <a:t>2</a:t>
            </a:r>
            <a:r>
              <a:rPr lang="en-US" dirty="0"/>
              <a:t>, 20, </a:t>
            </a:r>
            <a:r>
              <a:rPr lang="en-US" dirty="0">
                <a:highlight>
                  <a:srgbClr val="FFFF00"/>
                </a:highlight>
              </a:rPr>
              <a:t>2</a:t>
            </a:r>
            <a:r>
              <a:rPr lang="en-US" dirty="0"/>
              <a:t>, </a:t>
            </a:r>
            <a:r>
              <a:rPr lang="en-US" dirty="0">
                <a:highlight>
                  <a:srgbClr val="FFFF00"/>
                </a:highlight>
              </a:rPr>
              <a:t>4</a:t>
            </a:r>
            <a:r>
              <a:rPr lang="en-US" dirty="0"/>
              <a:t>, 1, </a:t>
            </a:r>
            <a:r>
              <a:rPr lang="en-US" dirty="0">
                <a:highlight>
                  <a:srgbClr val="FFFF00"/>
                </a:highlight>
              </a:rPr>
              <a:t>11</a:t>
            </a:r>
            <a:r>
              <a:rPr lang="en-US" dirty="0"/>
              <a:t>, 1, 7640, 40, 10, 1]</a:t>
            </a:r>
          </a:p>
          <a:p>
            <a:pPr lvl="1"/>
            <a:r>
              <a:rPr lang="en-US" dirty="0"/>
              <a:t>LANGUAGE </a:t>
            </a:r>
            <a:r>
              <a:rPr lang="en-US" dirty="0">
                <a:sym typeface="Wingdings" pitchFamily="2" charset="2"/>
              </a:rPr>
              <a:t> 2 (German). SPEAKENG  4 (Speaks very well). EDUC  11 (5+ years of </a:t>
            </a:r>
            <a:r>
              <a:rPr lang="en-US" dirty="0" err="1">
                <a:sym typeface="Wingdings" pitchFamily="2" charset="2"/>
              </a:rPr>
              <a:t>collge</a:t>
            </a:r>
            <a:r>
              <a:rPr lang="en-US" dirty="0">
                <a:sym typeface="Wingdings" pitchFamily="2" charset="2"/>
              </a:rPr>
              <a:t>)</a:t>
            </a:r>
          </a:p>
          <a:p>
            <a:pPr lvl="1"/>
            <a:r>
              <a:rPr lang="en-US" dirty="0">
                <a:sym typeface="Wingdings" pitchFamily="2" charset="2"/>
              </a:rPr>
              <a:t>27% increase for Tier 3. 17% increase for Tier 4.</a:t>
            </a:r>
          </a:p>
          <a:p>
            <a:r>
              <a:rPr lang="en-US" dirty="0">
                <a:sym typeface="Wingdings" pitchFamily="2" charset="2"/>
              </a:rPr>
              <a:t>End: </a:t>
            </a:r>
            <a:r>
              <a:rPr lang="en-US" dirty="0"/>
              <a:t>[</a:t>
            </a:r>
            <a:r>
              <a:rPr lang="en-US" dirty="0">
                <a:highlight>
                  <a:srgbClr val="FFFF00"/>
                </a:highlight>
              </a:rPr>
              <a:t>27</a:t>
            </a:r>
            <a:r>
              <a:rPr lang="en-US" dirty="0"/>
              <a:t>, 3, 13, 3, 2, 1, 43, 1, 7, 1, 200, </a:t>
            </a:r>
            <a:r>
              <a:rPr lang="en-US" dirty="0">
                <a:highlight>
                  <a:srgbClr val="FFFF00"/>
                </a:highlight>
              </a:rPr>
              <a:t>2</a:t>
            </a:r>
            <a:r>
              <a:rPr lang="en-US" dirty="0"/>
              <a:t>, 20, </a:t>
            </a:r>
            <a:r>
              <a:rPr lang="en-US" dirty="0">
                <a:highlight>
                  <a:srgbClr val="FFFF00"/>
                </a:highlight>
              </a:rPr>
              <a:t>2</a:t>
            </a:r>
            <a:r>
              <a:rPr lang="en-US" dirty="0"/>
              <a:t>, </a:t>
            </a:r>
            <a:r>
              <a:rPr lang="en-US" dirty="0">
                <a:highlight>
                  <a:srgbClr val="FFFF00"/>
                </a:highlight>
              </a:rPr>
              <a:t>4</a:t>
            </a:r>
            <a:r>
              <a:rPr lang="en-US" dirty="0"/>
              <a:t>, 1, </a:t>
            </a:r>
            <a:r>
              <a:rPr lang="en-US" dirty="0">
                <a:highlight>
                  <a:srgbClr val="FFFF00"/>
                </a:highlight>
              </a:rPr>
              <a:t>11</a:t>
            </a:r>
            <a:r>
              <a:rPr lang="en-US" dirty="0"/>
              <a:t>, 1, </a:t>
            </a:r>
            <a:r>
              <a:rPr lang="en-US" dirty="0">
                <a:highlight>
                  <a:srgbClr val="FFFF00"/>
                </a:highlight>
              </a:rPr>
              <a:t>960</a:t>
            </a:r>
            <a:r>
              <a:rPr lang="en-US" dirty="0"/>
              <a:t>, </a:t>
            </a:r>
            <a:r>
              <a:rPr lang="en-US" dirty="0">
                <a:highlight>
                  <a:srgbClr val="FFFF00"/>
                </a:highlight>
              </a:rPr>
              <a:t>70</a:t>
            </a:r>
            <a:r>
              <a:rPr lang="en-US" dirty="0"/>
              <a:t>, 10, 1]</a:t>
            </a:r>
          </a:p>
          <a:p>
            <a:pPr lvl="1"/>
            <a:r>
              <a:rPr lang="en-US" dirty="0"/>
              <a:t>OCC </a:t>
            </a:r>
            <a:r>
              <a:rPr lang="en-US" dirty="0">
                <a:sym typeface="Wingdings" pitchFamily="2" charset="2"/>
              </a:rPr>
              <a:t> 960 (Business). UHRSWORK  70.</a:t>
            </a:r>
          </a:p>
          <a:p>
            <a:pPr lvl="1"/>
            <a:r>
              <a:rPr lang="en-US" dirty="0"/>
              <a:t>20% increase for Tier 3. 65% increase for Tier 4. </a:t>
            </a:r>
          </a:p>
          <a:p>
            <a:endParaRPr lang="en-US" dirty="0"/>
          </a:p>
          <a:p>
            <a:pPr lvl="1"/>
            <a:endParaRPr lang="en-US" dirty="0"/>
          </a:p>
        </p:txBody>
      </p:sp>
    </p:spTree>
    <p:extLst>
      <p:ext uri="{BB962C8B-B14F-4D97-AF65-F5344CB8AC3E}">
        <p14:creationId xmlns:p14="http://schemas.microsoft.com/office/powerpoint/2010/main" val="17098214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68783-074D-8CB5-AFE1-A7CE711B6C8C}"/>
              </a:ext>
            </a:extLst>
          </p:cNvPr>
          <p:cNvSpPr>
            <a:spLocks noGrp="1"/>
          </p:cNvSpPr>
          <p:nvPr>
            <p:ph type="ctrTitle"/>
          </p:nvPr>
        </p:nvSpPr>
        <p:spPr/>
        <p:txBody>
          <a:bodyPr/>
          <a:lstStyle/>
          <a:p>
            <a:r>
              <a:rPr lang="en-US" dirty="0"/>
              <a:t>Thank you for your time</a:t>
            </a:r>
          </a:p>
        </p:txBody>
      </p:sp>
      <p:sp>
        <p:nvSpPr>
          <p:cNvPr id="3" name="Subtitle 2">
            <a:extLst>
              <a:ext uri="{FF2B5EF4-FFF2-40B4-BE49-F238E27FC236}">
                <a16:creationId xmlns:a16="http://schemas.microsoft.com/office/drawing/2014/main" id="{3FEDCFA0-97E3-A6B3-353E-39760A22C25A}"/>
              </a:ext>
            </a:extLst>
          </p:cNvPr>
          <p:cNvSpPr>
            <a:spLocks noGrp="1"/>
          </p:cNvSpPr>
          <p:nvPr>
            <p:ph type="subTitle" idx="1"/>
          </p:nvPr>
        </p:nvSpPr>
        <p:spPr/>
        <p:txBody>
          <a:bodyPr/>
          <a:lstStyle/>
          <a:p>
            <a:r>
              <a:rPr lang="en-US" dirty="0"/>
              <a:t>Kevin Ortiz</a:t>
            </a:r>
          </a:p>
        </p:txBody>
      </p:sp>
    </p:spTree>
    <p:extLst>
      <p:ext uri="{BB962C8B-B14F-4D97-AF65-F5344CB8AC3E}">
        <p14:creationId xmlns:p14="http://schemas.microsoft.com/office/powerpoint/2010/main" val="42421861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64FE6-FA11-68A6-F4C3-E6A30EAC4657}"/>
              </a:ext>
            </a:extLst>
          </p:cNvPr>
          <p:cNvSpPr>
            <a:spLocks noGrp="1"/>
          </p:cNvSpPr>
          <p:nvPr>
            <p:ph type="title"/>
          </p:nvPr>
        </p:nvSpPr>
        <p:spPr/>
        <p:txBody>
          <a:bodyPr/>
          <a:lstStyle/>
          <a:p>
            <a:r>
              <a:rPr lang="en-US" dirty="0"/>
              <a:t>Challenges</a:t>
            </a:r>
          </a:p>
        </p:txBody>
      </p:sp>
      <p:sp>
        <p:nvSpPr>
          <p:cNvPr id="3" name="Content Placeholder 2">
            <a:extLst>
              <a:ext uri="{FF2B5EF4-FFF2-40B4-BE49-F238E27FC236}">
                <a16:creationId xmlns:a16="http://schemas.microsoft.com/office/drawing/2014/main" id="{52B756FD-BDB3-C3B5-6C68-0B863034DC8D}"/>
              </a:ext>
            </a:extLst>
          </p:cNvPr>
          <p:cNvSpPr>
            <a:spLocks noGrp="1"/>
          </p:cNvSpPr>
          <p:nvPr>
            <p:ph idx="1"/>
          </p:nvPr>
        </p:nvSpPr>
        <p:spPr/>
        <p:txBody>
          <a:bodyPr/>
          <a:lstStyle/>
          <a:p>
            <a:r>
              <a:rPr lang="en-US" dirty="0"/>
              <a:t>The size of my state space was humongous. I had to train my agent on the same starting state, so I limited it to only explore a certain area of my grid world. There were too many states to let it explore randomly</a:t>
            </a:r>
          </a:p>
        </p:txBody>
      </p:sp>
    </p:spTree>
    <p:extLst>
      <p:ext uri="{BB962C8B-B14F-4D97-AF65-F5344CB8AC3E}">
        <p14:creationId xmlns:p14="http://schemas.microsoft.com/office/powerpoint/2010/main" val="6488000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25965</TotalTime>
  <Words>3587</Words>
  <Application>Microsoft Macintosh PowerPoint</Application>
  <PresentationFormat>Widescreen</PresentationFormat>
  <Paragraphs>517</Paragraphs>
  <Slides>26</Slides>
  <Notes>14</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-apple-system</vt:lpstr>
      <vt:lpstr>Arial</vt:lpstr>
      <vt:lpstr>Calibri</vt:lpstr>
      <vt:lpstr>Calibri Light</vt:lpstr>
      <vt:lpstr>Wingdings</vt:lpstr>
      <vt:lpstr>Office Theme</vt:lpstr>
      <vt:lpstr>MS Capstone Tufts University</vt:lpstr>
      <vt:lpstr>Overview</vt:lpstr>
      <vt:lpstr>Idea</vt:lpstr>
      <vt:lpstr>Data Limitations</vt:lpstr>
      <vt:lpstr>Methodology</vt:lpstr>
      <vt:lpstr>Reinforcement Learning</vt:lpstr>
      <vt:lpstr>Classifier</vt:lpstr>
      <vt:lpstr>Classifier Continued</vt:lpstr>
      <vt:lpstr>Classifier Continued</vt:lpstr>
      <vt:lpstr>Grid World</vt:lpstr>
      <vt:lpstr>Reinforcement Learning Continued</vt:lpstr>
      <vt:lpstr>Reinforcement Learning Continued</vt:lpstr>
      <vt:lpstr>Reinforcement Learning Continued</vt:lpstr>
      <vt:lpstr>Testing</vt:lpstr>
      <vt:lpstr>Tier 1 Learning</vt:lpstr>
      <vt:lpstr>Tier 4 Learning</vt:lpstr>
      <vt:lpstr>Mixed Learning</vt:lpstr>
      <vt:lpstr>Results</vt:lpstr>
      <vt:lpstr>Tier 1</vt:lpstr>
      <vt:lpstr>Tier 4</vt:lpstr>
      <vt:lpstr>Mixed</vt:lpstr>
      <vt:lpstr>Guidance – Tier 1</vt:lpstr>
      <vt:lpstr>Guidance – Tier 4</vt:lpstr>
      <vt:lpstr>Guidance - Mixed</vt:lpstr>
      <vt:lpstr>Thank you for your time</vt:lpstr>
      <vt:lpstr>Challenges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 Capstone</dc:title>
  <dc:creator>Ortiz, Kevin</dc:creator>
  <cp:lastModifiedBy>Kevin Ortiz</cp:lastModifiedBy>
  <cp:revision>23</cp:revision>
  <dcterms:created xsi:type="dcterms:W3CDTF">2024-04-20T19:07:44Z</dcterms:created>
  <dcterms:modified xsi:type="dcterms:W3CDTF">2024-05-09T22:09:06Z</dcterms:modified>
</cp:coreProperties>
</file>